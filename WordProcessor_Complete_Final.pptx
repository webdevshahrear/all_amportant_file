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54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2" r:id="rId17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5" d="100"/>
          <a:sy n="65" d="100"/>
        </p:scale>
        <p:origin x="918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88825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6675" y="2404534"/>
            <a:ext cx="7764913" cy="1646302"/>
          </a:xfrm>
        </p:spPr>
        <p:txBody>
          <a:bodyPr anchor="b">
            <a:noAutofit/>
          </a:bodyPr>
          <a:lstStyle>
            <a:lvl1pPr algn="r">
              <a:defRPr sz="5398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6675" y="4050834"/>
            <a:ext cx="7764913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06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12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1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25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31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37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1994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65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40297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5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63365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159" y="2700868"/>
            <a:ext cx="8594429" cy="1826581"/>
          </a:xfrm>
        </p:spPr>
        <p:txBody>
          <a:bodyPr anchor="b"/>
          <a:lstStyle>
            <a:lvl1pPr algn="l">
              <a:defRPr sz="3999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159" y="4527448"/>
            <a:ext cx="8594429" cy="860400"/>
          </a:xfrm>
        </p:spPr>
        <p:txBody>
          <a:bodyPr anchor="t"/>
          <a:lstStyle>
            <a:lvl1pPr marL="0" indent="0" algn="l">
              <a:buNone/>
              <a:defRPr sz="1999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063" indent="0">
              <a:buNone/>
              <a:defRPr sz="1799">
                <a:solidFill>
                  <a:schemeClr val="tx1">
                    <a:tint val="75000"/>
                  </a:schemeClr>
                </a:solidFill>
              </a:defRPr>
            </a:lvl2pPr>
            <a:lvl3pPr marL="91412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18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2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31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37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44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50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7347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158" y="2160589"/>
            <a:ext cx="418294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8645" y="2160590"/>
            <a:ext cx="418294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44466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570" y="2160983"/>
            <a:ext cx="4184533" cy="576262"/>
          </a:xfrm>
        </p:spPr>
        <p:txBody>
          <a:bodyPr anchor="b">
            <a:noAutofit/>
          </a:bodyPr>
          <a:lstStyle>
            <a:lvl1pPr marL="0" indent="0">
              <a:buNone/>
              <a:defRPr sz="2399" b="0"/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570" y="2737246"/>
            <a:ext cx="418453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7058" y="2160983"/>
            <a:ext cx="4184528" cy="576262"/>
          </a:xfrm>
        </p:spPr>
        <p:txBody>
          <a:bodyPr anchor="b">
            <a:noAutofit/>
          </a:bodyPr>
          <a:lstStyle>
            <a:lvl1pPr marL="0" indent="0">
              <a:buNone/>
              <a:defRPr sz="2399" b="0"/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7059" y="2737246"/>
            <a:ext cx="418452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13819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158" y="609600"/>
            <a:ext cx="8594429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650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68894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158" y="1498604"/>
            <a:ext cx="3853524" cy="1278466"/>
          </a:xfrm>
        </p:spPr>
        <p:txBody>
          <a:bodyPr anchor="b">
            <a:normAutofit/>
          </a:bodyPr>
          <a:lstStyle>
            <a:lvl1pPr>
              <a:defRPr sz="19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59222" y="514925"/>
            <a:ext cx="4512366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158" y="2777069"/>
            <a:ext cx="3853524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6926" indent="0">
              <a:buNone/>
              <a:defRPr sz="1400"/>
            </a:lvl2pPr>
            <a:lvl3pPr marL="913852" indent="0">
              <a:buNone/>
              <a:defRPr sz="1200"/>
            </a:lvl3pPr>
            <a:lvl4pPr marL="1370778" indent="0">
              <a:buNone/>
              <a:defRPr sz="1000"/>
            </a:lvl4pPr>
            <a:lvl5pPr marL="1827703" indent="0">
              <a:buNone/>
              <a:defRPr sz="1000"/>
            </a:lvl5pPr>
            <a:lvl6pPr marL="2284628" indent="0">
              <a:buNone/>
              <a:defRPr sz="1000"/>
            </a:lvl6pPr>
            <a:lvl7pPr marL="2741554" indent="0">
              <a:buNone/>
              <a:defRPr sz="1000"/>
            </a:lvl7pPr>
            <a:lvl8pPr marL="3198480" indent="0">
              <a:buNone/>
              <a:defRPr sz="1000"/>
            </a:lvl8pPr>
            <a:lvl9pPr marL="3655406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1465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158" y="4800600"/>
            <a:ext cx="8594428" cy="566738"/>
          </a:xfrm>
        </p:spPr>
        <p:txBody>
          <a:bodyPr anchor="b">
            <a:normAutofit/>
          </a:bodyPr>
          <a:lstStyle>
            <a:lvl1pPr algn="l">
              <a:defRPr sz="2399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158" y="609600"/>
            <a:ext cx="8594429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063" indent="0">
              <a:buNone/>
              <a:defRPr sz="1600"/>
            </a:lvl2pPr>
            <a:lvl3pPr marL="914126" indent="0">
              <a:buNone/>
              <a:defRPr sz="1600"/>
            </a:lvl3pPr>
            <a:lvl4pPr marL="1371189" indent="0">
              <a:buNone/>
              <a:defRPr sz="1600"/>
            </a:lvl4pPr>
            <a:lvl5pPr marL="1828251" indent="0">
              <a:buNone/>
              <a:defRPr sz="1600"/>
            </a:lvl5pPr>
            <a:lvl6pPr marL="2285314" indent="0">
              <a:buNone/>
              <a:defRPr sz="1600"/>
            </a:lvl6pPr>
            <a:lvl7pPr marL="2742377" indent="0">
              <a:buNone/>
              <a:defRPr sz="1600"/>
            </a:lvl7pPr>
            <a:lvl8pPr marL="3199440" indent="0">
              <a:buNone/>
              <a:defRPr sz="1600"/>
            </a:lvl8pPr>
            <a:lvl9pPr marL="3656503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158" y="5367338"/>
            <a:ext cx="8594428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63203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159" y="609600"/>
            <a:ext cx="8594429" cy="3403600"/>
          </a:xfrm>
        </p:spPr>
        <p:txBody>
          <a:bodyPr anchor="ctr">
            <a:normAutofit/>
          </a:bodyPr>
          <a:lstStyle>
            <a:lvl1pPr algn="l">
              <a:defRPr sz="4399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159" y="4470400"/>
            <a:ext cx="8594429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799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063" indent="0">
              <a:buNone/>
              <a:defRPr sz="1799">
                <a:solidFill>
                  <a:schemeClr val="tx1">
                    <a:tint val="75000"/>
                  </a:schemeClr>
                </a:solidFill>
              </a:defRPr>
            </a:lvl2pPr>
            <a:lvl3pPr marL="91412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18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2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31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37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44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50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928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092" y="609600"/>
            <a:ext cx="8092026" cy="3022600"/>
          </a:xfrm>
        </p:spPr>
        <p:txBody>
          <a:bodyPr anchor="ctr">
            <a:normAutofit/>
          </a:bodyPr>
          <a:lstStyle>
            <a:lvl1pPr algn="l">
              <a:defRPr sz="4399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5783" y="3632200"/>
            <a:ext cx="7222643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063" indent="0">
              <a:buFontTx/>
              <a:buNone/>
              <a:defRPr/>
            </a:lvl2pPr>
            <a:lvl3pPr marL="914126" indent="0">
              <a:buFontTx/>
              <a:buNone/>
              <a:defRPr/>
            </a:lvl3pPr>
            <a:lvl4pPr marL="1371189" indent="0">
              <a:buFontTx/>
              <a:buNone/>
              <a:defRPr/>
            </a:lvl4pPr>
            <a:lvl5pPr marL="1828251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159" y="4470400"/>
            <a:ext cx="8594429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799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063" indent="0">
              <a:buNone/>
              <a:defRPr sz="1799">
                <a:solidFill>
                  <a:schemeClr val="tx1">
                    <a:tint val="75000"/>
                  </a:schemeClr>
                </a:solidFill>
              </a:defRPr>
            </a:lvl2pPr>
            <a:lvl3pPr marL="91412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18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2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31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37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44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50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541729" y="790378"/>
            <a:ext cx="609441" cy="584776"/>
          </a:xfrm>
          <a:prstGeom prst="rect">
            <a:avLst/>
          </a:prstGeom>
        </p:spPr>
        <p:txBody>
          <a:bodyPr vert="horz" lIns="91416" tIns="45708" rIns="91416" bIns="45708" rtlCol="0" anchor="ctr">
            <a:noAutofit/>
          </a:bodyPr>
          <a:lstStyle/>
          <a:p>
            <a:pPr lvl="0"/>
            <a:r>
              <a:rPr lang="en-US" sz="7998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0695" y="2886556"/>
            <a:ext cx="609441" cy="584776"/>
          </a:xfrm>
          <a:prstGeom prst="rect">
            <a:avLst/>
          </a:prstGeom>
        </p:spPr>
        <p:txBody>
          <a:bodyPr vert="horz" lIns="91416" tIns="45708" rIns="91416" bIns="45708" rtlCol="0" anchor="ctr">
            <a:noAutofit/>
          </a:bodyPr>
          <a:lstStyle/>
          <a:p>
            <a:pPr lvl="0"/>
            <a:r>
              <a:rPr lang="en-US" sz="7998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799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802724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159" y="1931988"/>
            <a:ext cx="8594429" cy="2595460"/>
          </a:xfrm>
        </p:spPr>
        <p:txBody>
          <a:bodyPr anchor="b">
            <a:normAutofit/>
          </a:bodyPr>
          <a:lstStyle>
            <a:lvl1pPr algn="l">
              <a:defRPr sz="4399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159" y="4527448"/>
            <a:ext cx="8594429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799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063" indent="0">
              <a:buNone/>
              <a:defRPr sz="1799">
                <a:solidFill>
                  <a:schemeClr val="tx1">
                    <a:tint val="75000"/>
                  </a:schemeClr>
                </a:solidFill>
              </a:defRPr>
            </a:lvl2pPr>
            <a:lvl3pPr marL="91412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18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2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31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37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44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50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768850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092" y="609600"/>
            <a:ext cx="8092026" cy="3022600"/>
          </a:xfrm>
        </p:spPr>
        <p:txBody>
          <a:bodyPr anchor="ctr">
            <a:normAutofit/>
          </a:bodyPr>
          <a:lstStyle>
            <a:lvl1pPr algn="l">
              <a:defRPr sz="4399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156" y="4013200"/>
            <a:ext cx="8594430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399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063" indent="0">
              <a:buFontTx/>
              <a:buNone/>
              <a:defRPr/>
            </a:lvl2pPr>
            <a:lvl3pPr marL="914126" indent="0">
              <a:buFontTx/>
              <a:buNone/>
              <a:defRPr/>
            </a:lvl3pPr>
            <a:lvl4pPr marL="1371189" indent="0">
              <a:buFontTx/>
              <a:buNone/>
              <a:defRPr/>
            </a:lvl4pPr>
            <a:lvl5pPr marL="1828251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159" y="4527448"/>
            <a:ext cx="8594429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799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063" indent="0">
              <a:buNone/>
              <a:defRPr sz="1799">
                <a:solidFill>
                  <a:schemeClr val="tx1">
                    <a:tint val="75000"/>
                  </a:schemeClr>
                </a:solidFill>
              </a:defRPr>
            </a:lvl2pPr>
            <a:lvl3pPr marL="91412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18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2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31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37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44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50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541729" y="790378"/>
            <a:ext cx="609441" cy="584776"/>
          </a:xfrm>
          <a:prstGeom prst="rect">
            <a:avLst/>
          </a:prstGeom>
        </p:spPr>
        <p:txBody>
          <a:bodyPr vert="horz" lIns="91416" tIns="45708" rIns="91416" bIns="45708" rtlCol="0" anchor="ctr">
            <a:noAutofit/>
          </a:bodyPr>
          <a:lstStyle/>
          <a:p>
            <a:pPr lvl="0"/>
            <a:r>
              <a:rPr lang="en-US" sz="7998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0695" y="2886556"/>
            <a:ext cx="609441" cy="584776"/>
          </a:xfrm>
          <a:prstGeom prst="rect">
            <a:avLst/>
          </a:prstGeom>
        </p:spPr>
        <p:txBody>
          <a:bodyPr vert="horz" lIns="91416" tIns="45708" rIns="91416" bIns="45708" rtlCol="0" anchor="ctr">
            <a:noAutofit/>
          </a:bodyPr>
          <a:lstStyle/>
          <a:p>
            <a:pPr lvl="0"/>
            <a:r>
              <a:rPr lang="en-US" sz="7998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6254353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621" y="609600"/>
            <a:ext cx="8585966" cy="3022600"/>
          </a:xfrm>
        </p:spPr>
        <p:txBody>
          <a:bodyPr anchor="ctr">
            <a:normAutofit/>
          </a:bodyPr>
          <a:lstStyle>
            <a:lvl1pPr algn="l">
              <a:defRPr sz="4399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156" y="4013200"/>
            <a:ext cx="8594430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399">
                <a:solidFill>
                  <a:schemeClr val="accent1"/>
                </a:solidFill>
              </a:defRPr>
            </a:lvl1pPr>
            <a:lvl2pPr marL="457063" indent="0">
              <a:buFontTx/>
              <a:buNone/>
              <a:defRPr/>
            </a:lvl2pPr>
            <a:lvl3pPr marL="914126" indent="0">
              <a:buFontTx/>
              <a:buNone/>
              <a:defRPr/>
            </a:lvl3pPr>
            <a:lvl4pPr marL="1371189" indent="0">
              <a:buFontTx/>
              <a:buNone/>
              <a:defRPr/>
            </a:lvl4pPr>
            <a:lvl5pPr marL="1828251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159" y="4527448"/>
            <a:ext cx="8594429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799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063" indent="0">
              <a:buNone/>
              <a:defRPr sz="1799">
                <a:solidFill>
                  <a:schemeClr val="tx1">
                    <a:tint val="75000"/>
                  </a:schemeClr>
                </a:solidFill>
              </a:defRPr>
            </a:lvl2pPr>
            <a:lvl3pPr marL="91412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18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2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31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37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44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50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083143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433673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5599" y="609600"/>
            <a:ext cx="130440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159" y="609600"/>
            <a:ext cx="7058311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78428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88825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158" y="609600"/>
            <a:ext cx="8594429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158" y="2160590"/>
            <a:ext cx="8594429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3257" y="6041363"/>
            <a:ext cx="91170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158" y="6041363"/>
            <a:ext cx="62959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88426" y="6041363"/>
            <a:ext cx="68316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43100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5" r:id="rId1"/>
    <p:sldLayoutId id="2147483756" r:id="rId2"/>
    <p:sldLayoutId id="2147483757" r:id="rId3"/>
    <p:sldLayoutId id="2147483758" r:id="rId4"/>
    <p:sldLayoutId id="2147483759" r:id="rId5"/>
    <p:sldLayoutId id="2147483760" r:id="rId6"/>
    <p:sldLayoutId id="2147483761" r:id="rId7"/>
    <p:sldLayoutId id="2147483762" r:id="rId8"/>
    <p:sldLayoutId id="2147483763" r:id="rId9"/>
    <p:sldLayoutId id="2147483764" r:id="rId10"/>
    <p:sldLayoutId id="2147483765" r:id="rId11"/>
    <p:sldLayoutId id="2147483766" r:id="rId12"/>
    <p:sldLayoutId id="2147483767" r:id="rId13"/>
    <p:sldLayoutId id="2147483768" r:id="rId14"/>
    <p:sldLayoutId id="2147483769" r:id="rId15"/>
    <p:sldLayoutId id="2147483770" r:id="rId16"/>
  </p:sldLayoutIdLst>
  <p:txStyles>
    <p:titleStyle>
      <a:lvl1pPr algn="l" defTabSz="457063" rtl="0" eaLnBrk="1" latinLnBrk="0" hangingPunct="1">
        <a:spcBef>
          <a:spcPct val="0"/>
        </a:spcBef>
        <a:buNone/>
        <a:defRPr sz="3599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797" indent="-342797" algn="l" defTabSz="457063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799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727" indent="-285664" algn="l" defTabSz="457063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2657" indent="-228531" algn="l" defTabSz="457063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599720" indent="-228531" algn="l" defTabSz="457063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6783" indent="-228531" algn="l" defTabSz="457063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3846" indent="-228531" algn="l" defTabSz="457063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0908" indent="-228531" algn="l" defTabSz="457063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7971" indent="-228531" algn="l" defTabSz="457063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5034" indent="-228531" algn="l" defTabSz="457063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1pPr>
      <a:lvl2pPr marL="457063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2pPr>
      <a:lvl3pPr marL="914126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1371189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1828251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285314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742377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199440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656503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4572000" y="0"/>
            <a:ext cx="13716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" y="1097280"/>
            <a:ext cx="402336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000" b="1" i="0" dirty="0">
                <a:latin typeface="Calibri"/>
              </a:rPr>
              <a:t>WORD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965960"/>
            <a:ext cx="40233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 dirty="0">
                <a:solidFill>
                  <a:schemeClr val="accent1"/>
                </a:solidFill>
                <a:latin typeface="Calibri"/>
              </a:rPr>
              <a:t>PROCESSING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2542032"/>
            <a:ext cx="40233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 dirty="0">
                <a:latin typeface="Calibri"/>
              </a:rPr>
              <a:t>SOFTWARE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218688"/>
            <a:ext cx="3566160" cy="3657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4320" y="3337560"/>
            <a:ext cx="40233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 dirty="0">
                <a:latin typeface="Calibri"/>
              </a:rPr>
              <a:t>A Comprehensive Group Presentation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3767328"/>
            <a:ext cx="40233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 dirty="0">
                <a:latin typeface="Calibri"/>
              </a:rPr>
              <a:t>Covering All 15 Topics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83480" y="1280160"/>
            <a:ext cx="6949440" cy="4297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983480" y="1280160"/>
            <a:ext cx="6949440" cy="38404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138928" y="1344168"/>
            <a:ext cx="6583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PRESENTATION DETAILS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20640" y="1755648"/>
            <a:ext cx="6656832" cy="658368"/>
          </a:xfrm>
          <a:prstGeom prst="rect">
            <a:avLst/>
          </a:prstGeom>
          <a:solidFill>
            <a:srgbClr val="F0F4F8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257800" y="1810512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Topic Title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57800" y="2048255"/>
            <a:ext cx="6309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dirty="0">
                <a:solidFill>
                  <a:srgbClr val="0F172A"/>
                </a:solidFill>
                <a:latin typeface="Calibri"/>
              </a:rPr>
              <a:t>Word Processing Software — All 15 Topics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0640" y="2505456"/>
            <a:ext cx="6656832" cy="658368"/>
          </a:xfrm>
          <a:prstGeom prst="rect">
            <a:avLst/>
          </a:prstGeom>
          <a:solidFill>
            <a:srgbClr val="F0F4F8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257800" y="2560320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Course Name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57800" y="2798063"/>
            <a:ext cx="63093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dirty="0">
                <a:solidFill>
                  <a:srgbClr val="0F172A"/>
                </a:solidFill>
                <a:latin typeface="Calibri"/>
              </a:rPr>
              <a:t>[</a:t>
            </a:r>
            <a:r>
              <a:rPr lang="en-US" sz="1200" b="1" i="0" dirty="0">
                <a:effectLst/>
                <a:latin typeface="inherit"/>
              </a:rPr>
              <a:t>Web Design and Development for Freelancing</a:t>
            </a:r>
            <a:r>
              <a:rPr sz="1200" b="1" i="0" dirty="0">
                <a:solidFill>
                  <a:srgbClr val="0F172A"/>
                </a:solidFill>
                <a:latin typeface="Calibri"/>
              </a:rPr>
              <a:t>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20640" y="3255263"/>
            <a:ext cx="6656832" cy="658368"/>
          </a:xfrm>
          <a:prstGeom prst="rect">
            <a:avLst/>
          </a:prstGeom>
          <a:solidFill>
            <a:srgbClr val="F0F4F8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257800" y="3310127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Group Members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57800" y="3547871"/>
            <a:ext cx="63093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dirty="0">
                <a:solidFill>
                  <a:srgbClr val="0F172A"/>
                </a:solidFill>
                <a:latin typeface="Calibri"/>
              </a:rPr>
              <a:t>[</a:t>
            </a:r>
            <a:r>
              <a:rPr lang="en-US" sz="1200" b="1" i="0" dirty="0">
                <a:solidFill>
                  <a:srgbClr val="0F172A"/>
                </a:solidFill>
                <a:latin typeface="Calibri"/>
              </a:rPr>
              <a:t>Shahrear</a:t>
            </a:r>
            <a:r>
              <a:rPr sz="1200" b="1" i="0" dirty="0">
                <a:solidFill>
                  <a:srgbClr val="0F172A"/>
                </a:solidFill>
                <a:latin typeface="Calibri"/>
              </a:rPr>
              <a:t>]  ·  [</a:t>
            </a:r>
            <a:r>
              <a:rPr lang="en-US" sz="1200" b="1" dirty="0">
                <a:solidFill>
                  <a:srgbClr val="0F172A"/>
                </a:solidFill>
                <a:latin typeface="Calibri"/>
              </a:rPr>
              <a:t>Adam</a:t>
            </a:r>
            <a:r>
              <a:rPr sz="1200" b="1" i="0" dirty="0">
                <a:solidFill>
                  <a:srgbClr val="0F172A"/>
                </a:solidFill>
                <a:latin typeface="Calibri"/>
              </a:rPr>
              <a:t>]  ·  [</a:t>
            </a:r>
            <a:r>
              <a:rPr lang="en-US" sz="1200" b="1" dirty="0" err="1">
                <a:solidFill>
                  <a:srgbClr val="0F172A"/>
                </a:solidFill>
                <a:latin typeface="Calibri"/>
              </a:rPr>
              <a:t>Istak</a:t>
            </a:r>
            <a:r>
              <a:rPr sz="1200" b="1" i="0" dirty="0">
                <a:solidFill>
                  <a:srgbClr val="0F172A"/>
                </a:solidFill>
                <a:latin typeface="Calibri"/>
              </a:rPr>
              <a:t>]</a:t>
            </a:r>
            <a:r>
              <a:rPr lang="en-US" sz="1200" b="1" i="0" dirty="0">
                <a:solidFill>
                  <a:srgbClr val="0F172A"/>
                </a:solidFill>
                <a:latin typeface="Calibri"/>
              </a:rPr>
              <a:t> ·  [Mohibullah] ·  [Arup] </a:t>
            </a:r>
            <a:endParaRPr sz="1200" b="1" i="0" dirty="0">
              <a:solidFill>
                <a:srgbClr val="0F172A"/>
              </a:solidFill>
              <a:latin typeface="Calibri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5120640" y="4005072"/>
            <a:ext cx="6656832" cy="658368"/>
          </a:xfrm>
          <a:prstGeom prst="rect">
            <a:avLst/>
          </a:prstGeom>
          <a:solidFill>
            <a:srgbClr val="F0F4F8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257800" y="4059935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Student IDs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120640" y="4754879"/>
            <a:ext cx="6656832" cy="658368"/>
          </a:xfrm>
          <a:prstGeom prst="rect">
            <a:avLst/>
          </a:prstGeom>
          <a:solidFill>
            <a:srgbClr val="F0F4F8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257800" y="4809743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Submission Date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7800" y="5047488"/>
            <a:ext cx="63093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dirty="0">
                <a:solidFill>
                  <a:srgbClr val="0F172A"/>
                </a:solidFill>
                <a:latin typeface="Calibri"/>
              </a:rPr>
              <a:t>[</a:t>
            </a:r>
            <a:r>
              <a:rPr lang="en-US" sz="1200" b="1" dirty="0">
                <a:solidFill>
                  <a:srgbClr val="0F172A"/>
                </a:solidFill>
                <a:latin typeface="Calibri"/>
              </a:rPr>
              <a:t>11.03.2026</a:t>
            </a:r>
            <a:r>
              <a:rPr sz="1200" b="1" i="0" dirty="0">
                <a:solidFill>
                  <a:srgbClr val="0F172A"/>
                </a:solidFill>
                <a:latin typeface="Calibri"/>
              </a:rPr>
              <a:t>]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" cy="9692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969264"/>
            <a:ext cx="12188952" cy="45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28600" y="128016"/>
            <a:ext cx="548640" cy="29260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28600" y="128016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91440"/>
            <a:ext cx="10972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0F172A"/>
                </a:solidFill>
                <a:latin typeface="Calibri"/>
              </a:rPr>
              <a:t>Introduction to Word Processing Software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4864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75569"/>
                </a:solidFill>
                <a:latin typeface="Calibri"/>
              </a:rPr>
              <a:t>Definition  ·  History  ·  Development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0" y="6565392"/>
            <a:ext cx="1218895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74320" y="6620256"/>
            <a:ext cx="9144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4A3B8"/>
                </a:solidFill>
                <a:latin typeface="Calibri"/>
              </a:rPr>
              <a:t>Word Processing Software  ·  Comprehensive Presentation — All 15 Topics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1078992"/>
            <a:ext cx="1152144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20040" y="1078992"/>
            <a:ext cx="91440" cy="84124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48640" y="1124712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D4ED8"/>
                </a:solidFill>
                <a:latin typeface="Calibri"/>
              </a:rPr>
              <a:t>Definition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353312"/>
            <a:ext cx="110642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Calibri"/>
              </a:rPr>
              <a:t>A word processor is software that enables users to create, edit, format, store and print text documents. It offers dynamic editing, rich formatting, spell-checking and digital storage — making document creation fast and professional.</a:t>
            </a:r>
          </a:p>
        </p:txBody>
      </p:sp>
      <p:pic>
        <p:nvPicPr>
          <p:cNvPr id="17" name="Picture 16" descr="01_timeline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2011680"/>
            <a:ext cx="11521440" cy="2487168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384048" y="4626864"/>
            <a:ext cx="1810512" cy="8778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84048" y="4626864"/>
            <a:ext cx="1810512" cy="29260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29768" y="4663440"/>
            <a:ext cx="17190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1960s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" y="4956048"/>
            <a:ext cx="1719072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475569"/>
                </a:solidFill>
                <a:latin typeface="Calibri"/>
              </a:rPr>
              <a:t>Mainframe text editors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86000" y="4626864"/>
            <a:ext cx="1810512" cy="8778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2286000" y="4626864"/>
            <a:ext cx="1810512" cy="29260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331720" y="4663440"/>
            <a:ext cx="17190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1970s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20" y="4956048"/>
            <a:ext cx="1719072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475569"/>
                </a:solidFill>
                <a:latin typeface="Calibri"/>
              </a:rPr>
              <a:t>Wang Word Processor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87952" y="4626864"/>
            <a:ext cx="1810512" cy="8778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187952" y="4626864"/>
            <a:ext cx="1810512" cy="29260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233672" y="4663440"/>
            <a:ext cx="17190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1983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33672" y="4956048"/>
            <a:ext cx="1719072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475569"/>
                </a:solidFill>
                <a:latin typeface="Calibri"/>
              </a:rPr>
              <a:t>Microsoft Word launched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89904" y="4626864"/>
            <a:ext cx="1810512" cy="8778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6089904" y="4626864"/>
            <a:ext cx="1810512" cy="292608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135624" y="4663440"/>
            <a:ext cx="17190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1990s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35624" y="4956048"/>
            <a:ext cx="1719072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475569"/>
                </a:solidFill>
                <a:latin typeface="Calibri"/>
              </a:rPr>
              <a:t>GUI word processors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91856" y="4626864"/>
            <a:ext cx="1810512" cy="8778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991856" y="4626864"/>
            <a:ext cx="1810512" cy="29260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037576" y="4663440"/>
            <a:ext cx="17190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2000s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37576" y="4956048"/>
            <a:ext cx="1719072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475569"/>
                </a:solidFill>
                <a:latin typeface="Calibri"/>
              </a:rPr>
              <a:t>Cloud collaboration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893808" y="4626864"/>
            <a:ext cx="1810512" cy="8778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9893808" y="4626864"/>
            <a:ext cx="1810512" cy="29260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9939528" y="4663440"/>
            <a:ext cx="17190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Today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39528" y="4956048"/>
            <a:ext cx="1719072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475569"/>
                </a:solidFill>
                <a:latin typeface="Calibri"/>
              </a:rPr>
              <a:t>AI-powered writing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" cy="9692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969264"/>
            <a:ext cx="12188952" cy="45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28600" y="128016"/>
            <a:ext cx="548640" cy="29260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28600" y="128016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91440"/>
            <a:ext cx="10972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0F172A"/>
                </a:solidFill>
                <a:latin typeface="Calibri"/>
              </a:rPr>
              <a:t>User Interface &amp; Workspace of Microsoft Word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4864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75569"/>
                </a:solidFill>
                <a:latin typeface="Calibri"/>
              </a:rPr>
              <a:t>Ribbon  ·  Title Bar  ·  Document Area  ·  Status Bar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0" y="6565392"/>
            <a:ext cx="1218895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74320" y="6620256"/>
            <a:ext cx="9144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4A3B8"/>
                </a:solidFill>
                <a:latin typeface="Calibri"/>
              </a:rPr>
              <a:t>Word Processing Software  ·  Comprehensive Presentation — All 15 Topics</a:t>
            </a:r>
          </a:p>
        </p:txBody>
      </p:sp>
      <p:pic>
        <p:nvPicPr>
          <p:cNvPr id="13" name="Picture 12" descr="02_ui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78992"/>
            <a:ext cx="6583680" cy="3858768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7059168" y="1078992"/>
            <a:ext cx="4828032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059168" y="1078992"/>
            <a:ext cx="91440" cy="42062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205472" y="1115568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4ED8"/>
                </a:solidFill>
                <a:latin typeface="Calibri"/>
              </a:rPr>
              <a:t>Title Bar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05472" y="1316736"/>
            <a:ext cx="4572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75569"/>
                </a:solidFill>
                <a:latin typeface="Calibri"/>
              </a:rPr>
              <a:t>Shows document name &amp; window controls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59168" y="1554480"/>
            <a:ext cx="4828032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059168" y="1554480"/>
            <a:ext cx="91440" cy="420624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205472" y="1591056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C2626"/>
                </a:solidFill>
                <a:latin typeface="Calibri"/>
              </a:rPr>
              <a:t>Quick Access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05472" y="1792224"/>
            <a:ext cx="4572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75569"/>
                </a:solidFill>
                <a:latin typeface="Calibri"/>
              </a:rPr>
              <a:t>Undo, Redo, Save — one click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59168" y="2029967"/>
            <a:ext cx="4828032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7059168" y="2029967"/>
            <a:ext cx="91440" cy="42062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205472" y="2066543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C3AED"/>
                </a:solidFill>
                <a:latin typeface="Calibri"/>
              </a:rPr>
              <a:t>Ribbon Tabs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05472" y="2267711"/>
            <a:ext cx="4572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75569"/>
                </a:solidFill>
                <a:latin typeface="Calibri"/>
              </a:rPr>
              <a:t>Home, Insert, Layout, References...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59168" y="2505456"/>
            <a:ext cx="4828032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9168" y="2505456"/>
            <a:ext cx="91440" cy="420624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205472" y="2542032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891B2"/>
                </a:solidFill>
                <a:latin typeface="Calibri"/>
              </a:rPr>
              <a:t>Command Ribbon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05472" y="2743200"/>
            <a:ext cx="4572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75569"/>
                </a:solidFill>
                <a:latin typeface="Calibri"/>
              </a:rPr>
              <a:t>Font, Paragraph, Styles groups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059168" y="2980944"/>
            <a:ext cx="4828032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9168" y="2980944"/>
            <a:ext cx="91440" cy="420624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205472" y="3017520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A580C"/>
                </a:solidFill>
                <a:latin typeface="Calibri"/>
              </a:rPr>
              <a:t>Ruler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05472" y="3218687"/>
            <a:ext cx="4572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75569"/>
                </a:solidFill>
                <a:latin typeface="Calibri"/>
              </a:rPr>
              <a:t>Set margins, indents, tab stops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059168" y="3456432"/>
            <a:ext cx="4828032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9168" y="3456432"/>
            <a:ext cx="91440" cy="42062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205472" y="3493008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59669"/>
                </a:solidFill>
                <a:latin typeface="Calibri"/>
              </a:rPr>
              <a:t>Document Area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05472" y="3694176"/>
            <a:ext cx="4572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75569"/>
                </a:solidFill>
                <a:latin typeface="Calibri"/>
              </a:rPr>
              <a:t>Main editing &amp; typing zone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059168" y="3931920"/>
            <a:ext cx="4828032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9168" y="3931920"/>
            <a:ext cx="91440" cy="42062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205472" y="3968496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C3AED"/>
                </a:solidFill>
                <a:latin typeface="Calibri"/>
              </a:rPr>
              <a:t>Navigation Pane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05472" y="4169663"/>
            <a:ext cx="4572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75569"/>
                </a:solidFill>
                <a:latin typeface="Calibri"/>
              </a:rPr>
              <a:t>Search &amp; jump to headings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059168" y="4407408"/>
            <a:ext cx="4828032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9168" y="4407408"/>
            <a:ext cx="91440" cy="42062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7205472" y="4443984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4ED8"/>
                </a:solidFill>
                <a:latin typeface="Calibri"/>
              </a:rPr>
              <a:t>Status Bar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205472" y="4645152"/>
            <a:ext cx="4572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75569"/>
                </a:solidFill>
                <a:latin typeface="Calibri"/>
              </a:rPr>
              <a:t>Page, words, language, zoom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20040" y="5029200"/>
            <a:ext cx="11521440" cy="676656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502920" y="5084064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C2626"/>
                </a:solidFill>
                <a:latin typeface="Calibri"/>
              </a:rPr>
              <a:t>Pro Tip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2920" y="5340096"/>
            <a:ext cx="11064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4DE"/>
                </a:solidFill>
                <a:latin typeface="Calibri"/>
              </a:rPr>
              <a:t>Customize Quick Access Toolbar — right-click any ribbon button → Add to Quick Access Toolbar to save time.</a:t>
            </a:r>
          </a:p>
        </p:txBody>
      </p:sp>
    </p:spTree>
  </p:cSld>
  <p:clrMapOvr>
    <a:masterClrMapping/>
  </p:clrMapOvr>
  <p:transition spd="med">
    <p:push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" cy="9692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969264"/>
            <a:ext cx="12188952" cy="45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28600" y="128016"/>
            <a:ext cx="548640" cy="29260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28600" y="128016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91440"/>
            <a:ext cx="10972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0F172A"/>
                </a:solidFill>
                <a:latin typeface="Calibri"/>
              </a:rPr>
              <a:t>Text Formatting &amp; Font Management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4864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75569"/>
                </a:solidFill>
                <a:latin typeface="Calibri"/>
              </a:rPr>
              <a:t>Bold  ·  Italic  ·  Font Size  ·  Color  ·  Effects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0" y="6565392"/>
            <a:ext cx="1218895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74320" y="6620256"/>
            <a:ext cx="9144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4A3B8"/>
                </a:solidFill>
                <a:latin typeface="Calibri"/>
              </a:rPr>
              <a:t>Word Processing Software  ·  Comprehensive Presentation — All 15 Topics</a:t>
            </a:r>
          </a:p>
        </p:txBody>
      </p:sp>
      <p:pic>
        <p:nvPicPr>
          <p:cNvPr id="13" name="Picture 12" descr="03_formatting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78992"/>
            <a:ext cx="7818120" cy="29718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8366760" y="1133856"/>
            <a:ext cx="3749039" cy="4645152"/>
          </a:xfrm>
          <a:prstGeom prst="rect">
            <a:avLst/>
          </a:prstGeom>
          <a:solidFill>
            <a:srgbClr val="C0C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321040" y="1078992"/>
            <a:ext cx="3749039" cy="464515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321040" y="1078992"/>
            <a:ext cx="3749039" cy="34747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58200" y="1143000"/>
            <a:ext cx="356615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Font Management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49056" y="1499616"/>
            <a:ext cx="354787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• Font Family — Calibri, Arial, Times New Roman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49056" y="1883664"/>
            <a:ext cx="354787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• Font Size — Body 11-12pt, Headings 18-24pt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49056" y="2267712"/>
            <a:ext cx="354787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• Bold / Italic / Underline  (Ctrl+B / I / U)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49056" y="2651760"/>
            <a:ext cx="354787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• Text Color &amp; Highlight Color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49056" y="3035808"/>
            <a:ext cx="354787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• Superscript x²  and Subscript H₂O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49056" y="3419856"/>
            <a:ext cx="354787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• Character Spacing — expand/condense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49056" y="3803904"/>
            <a:ext cx="354787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• Change Case — UPPER / lower / Title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49056" y="4187952"/>
            <a:ext cx="354787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• Shadow, Outline &amp; Emboss effects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49056" y="4572000"/>
            <a:ext cx="354787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• Embed fonts for cross-device sharing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4142232"/>
            <a:ext cx="7818120" cy="1572768"/>
          </a:xfrm>
          <a:prstGeom prst="rect">
            <a:avLst/>
          </a:prstGeom>
          <a:solidFill>
            <a:srgbClr val="F0F4F8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02920" y="4206240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F172A"/>
                </a:solidFill>
                <a:latin typeface="Calibri"/>
              </a:rPr>
              <a:t>Essential Keyboard Shortcuts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4572000"/>
            <a:ext cx="804672" cy="27432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93776" y="460857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Ctrl+B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35024" y="4608576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Bold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71800" y="4572000"/>
            <a:ext cx="804672" cy="27432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008376" y="460857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Ctrl+I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49624" y="4608576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Italic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0" y="4572000"/>
            <a:ext cx="804672" cy="27432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522976" y="460857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Ctrl+U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64224" y="4608576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Underline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5102352"/>
            <a:ext cx="804672" cy="27432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93776" y="51389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Ctrl+]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35024" y="5138928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Bigger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971800" y="5102352"/>
            <a:ext cx="804672" cy="27432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3008376" y="51389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Ctrl+[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849624" y="5138928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Smaller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486400" y="5102352"/>
            <a:ext cx="804672" cy="27432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5522976" y="51389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Ctrl+Space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64224" y="5138928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Clear Format</a:t>
            </a:r>
          </a:p>
        </p:txBody>
      </p:sp>
    </p:spTree>
  </p:cSld>
  <p:clrMapOvr>
    <a:masterClrMapping/>
  </p:clrMapOvr>
  <p:transition spd="med">
    <p:push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" cy="9692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969264"/>
            <a:ext cx="12188952" cy="45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28600" y="128016"/>
            <a:ext cx="548640" cy="29260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28600" y="128016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91440"/>
            <a:ext cx="10972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0F172A"/>
                </a:solidFill>
                <a:latin typeface="Calibri"/>
              </a:rPr>
              <a:t>Paragraph Formatting &amp; Alignment Techniques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4864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75569"/>
                </a:solidFill>
                <a:latin typeface="Calibri"/>
              </a:rPr>
              <a:t>Alignment  ·  Line Spacing  ·  Indents  ·  Borders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0" y="6565392"/>
            <a:ext cx="1218895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74320" y="6620256"/>
            <a:ext cx="9144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4A3B8"/>
                </a:solidFill>
                <a:latin typeface="Calibri"/>
              </a:rPr>
              <a:t>Word Processing Software  ·  Comprehensive Presentation — All 15 Topics</a:t>
            </a:r>
          </a:p>
        </p:txBody>
      </p:sp>
      <p:pic>
        <p:nvPicPr>
          <p:cNvPr id="13" name="Picture 12" descr="04_alignment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78992"/>
            <a:ext cx="11521440" cy="2542032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320040" y="3730752"/>
            <a:ext cx="5687568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20040" y="3730752"/>
            <a:ext cx="91440" cy="80467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21207" y="3803904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D4ED8"/>
                </a:solidFill>
                <a:latin typeface="Calibri"/>
              </a:rPr>
              <a:t>Line Spacing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7" y="4133088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75569"/>
                </a:solidFill>
                <a:latin typeface="Calibri"/>
              </a:rPr>
              <a:t>Single 1.0, One-and-half 1.5, Double 2.0 or custom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3730752"/>
            <a:ext cx="5687568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263640" y="3730752"/>
            <a:ext cx="91440" cy="80467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64807" y="3803904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DC2626"/>
                </a:solidFill>
                <a:latin typeface="Calibri"/>
              </a:rPr>
              <a:t>Paragraph Space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4807" y="4133088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75569"/>
                </a:solidFill>
                <a:latin typeface="Calibri"/>
              </a:rPr>
              <a:t>Before &amp; After spacing for visual breathing room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4645152"/>
            <a:ext cx="5687568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20040" y="4645152"/>
            <a:ext cx="91440" cy="80467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21207" y="4718304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7C3AED"/>
                </a:solidFill>
                <a:latin typeface="Calibri"/>
              </a:rPr>
              <a:t>Indentation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" y="5047488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75569"/>
                </a:solidFill>
                <a:latin typeface="Calibri"/>
              </a:rPr>
              <a:t>First-line, Hanging, or Block indent for quotes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4645152"/>
            <a:ext cx="5687568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263640" y="4645152"/>
            <a:ext cx="91440" cy="804672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64807" y="4718304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891B2"/>
                </a:solidFill>
                <a:latin typeface="Calibri"/>
              </a:rPr>
              <a:t>Borders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64807" y="5047488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75569"/>
                </a:solidFill>
                <a:latin typeface="Calibri"/>
              </a:rPr>
              <a:t>Decorative borders around paragraphs or pages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5559552"/>
            <a:ext cx="5687568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320040" y="5559552"/>
            <a:ext cx="91440" cy="80467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21207" y="5632704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EA580C"/>
                </a:solidFill>
                <a:latin typeface="Calibri"/>
              </a:rPr>
              <a:t>Tab Stops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7" y="5961888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75569"/>
                </a:solidFill>
                <a:latin typeface="Calibri"/>
              </a:rPr>
              <a:t>Left, Right, Center, Decimal at set positions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63640" y="5559552"/>
            <a:ext cx="5687568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263640" y="5559552"/>
            <a:ext cx="91440" cy="80467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464807" y="5632704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59669"/>
                </a:solidFill>
                <a:latin typeface="Calibri"/>
              </a:rPr>
              <a:t>Keep Together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64807" y="5961888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75569"/>
                </a:solidFill>
                <a:latin typeface="Calibri"/>
              </a:rPr>
              <a:t>Prevents paragraph splitting across pages</a:t>
            </a:r>
          </a:p>
        </p:txBody>
      </p:sp>
    </p:spTree>
  </p:cSld>
  <p:clrMapOvr>
    <a:masterClrMapping/>
  </p:clrMapOvr>
  <p:transition spd="med">
    <p:push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" cy="9692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969264"/>
            <a:ext cx="12188952" cy="45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28600" y="128016"/>
            <a:ext cx="548640" cy="29260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28600" y="128016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91440"/>
            <a:ext cx="10972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0F172A"/>
                </a:solidFill>
                <a:latin typeface="Calibri"/>
              </a:rPr>
              <a:t>Page Layout, Margins &amp; Document Structure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4864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75569"/>
                </a:solidFill>
                <a:latin typeface="Calibri"/>
              </a:rPr>
              <a:t>Page Size  ·  Orientation  ·  Margins  ·  Columns  ·  Sections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0" y="6565392"/>
            <a:ext cx="1218895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74320" y="6620256"/>
            <a:ext cx="9144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4A3B8"/>
                </a:solidFill>
                <a:latin typeface="Calibri"/>
              </a:rPr>
              <a:t>Word Processing Software  ·  Comprehensive Presentation — All 15 Topics</a:t>
            </a:r>
          </a:p>
        </p:txBody>
      </p:sp>
      <p:pic>
        <p:nvPicPr>
          <p:cNvPr id="13" name="Picture 12" descr="05_pagelayout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1078992"/>
            <a:ext cx="5074920" cy="5376672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320040" y="1078992"/>
            <a:ext cx="6291072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20040" y="1078992"/>
            <a:ext cx="91440" cy="67665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" y="1152144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D4ED8"/>
                </a:solidFill>
                <a:latin typeface="Calibri"/>
              </a:rPr>
              <a:t>Page Size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1444752"/>
            <a:ext cx="5989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75569"/>
                </a:solidFill>
                <a:latin typeface="Calibri"/>
              </a:rPr>
              <a:t>A4 (210×297mm) or Letter (8.5×11"). Layout → Size.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1847088"/>
            <a:ext cx="6291072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20040" y="1847088"/>
            <a:ext cx="91440" cy="67665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30352" y="1920240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DC2626"/>
                </a:solidFill>
                <a:latin typeface="Calibri"/>
              </a:rPr>
              <a:t>Orientation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" y="2212848"/>
            <a:ext cx="5989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75569"/>
                </a:solidFill>
                <a:latin typeface="Calibri"/>
              </a:rPr>
              <a:t>Portrait (vertical) or Landscape (horizontal).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2615184"/>
            <a:ext cx="6291072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20040" y="2615184"/>
            <a:ext cx="91440" cy="67665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30352" y="2688336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7C3AED"/>
                </a:solidFill>
                <a:latin typeface="Calibri"/>
              </a:rPr>
              <a:t>Margins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" y="2980944"/>
            <a:ext cx="5989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75569"/>
                </a:solidFill>
                <a:latin typeface="Calibri"/>
              </a:rPr>
              <a:t>Standard: 1" all sides. Normal, Narrow, Wide presets.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3383280"/>
            <a:ext cx="6291072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320040" y="3383280"/>
            <a:ext cx="91440" cy="676656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30352" y="3456432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891B2"/>
                </a:solidFill>
                <a:latin typeface="Calibri"/>
              </a:rPr>
              <a:t>Columns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0352" y="3749040"/>
            <a:ext cx="5989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75569"/>
                </a:solidFill>
                <a:latin typeface="Calibri"/>
              </a:rPr>
              <a:t>2 or 3 columns for newsletters and brochures.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4151376"/>
            <a:ext cx="6291072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320040" y="4151376"/>
            <a:ext cx="91440" cy="67665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30352" y="4224528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EA580C"/>
                </a:solidFill>
                <a:latin typeface="Calibri"/>
              </a:rPr>
              <a:t>Page Breaks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0352" y="4517136"/>
            <a:ext cx="5989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75569"/>
                </a:solidFill>
                <a:latin typeface="Calibri"/>
              </a:rPr>
              <a:t>Force content to next page — Ctrl+Enter.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0040" y="4919472"/>
            <a:ext cx="6291072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320040" y="4919472"/>
            <a:ext cx="91440" cy="67665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30352" y="4992624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59669"/>
                </a:solidFill>
                <a:latin typeface="Calibri"/>
              </a:rPr>
              <a:t>Section Breaks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0352" y="5285232"/>
            <a:ext cx="5989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75569"/>
                </a:solidFill>
                <a:latin typeface="Calibri"/>
              </a:rPr>
              <a:t>Apply different layouts within one document.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0040" y="5687568"/>
            <a:ext cx="6291072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320040" y="5687568"/>
            <a:ext cx="91440" cy="67665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30352" y="5760720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D4ED8"/>
                </a:solidFill>
                <a:latin typeface="Calibri"/>
              </a:rPr>
              <a:t>Watermarks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0352" y="6053328"/>
            <a:ext cx="5989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75569"/>
                </a:solidFill>
                <a:latin typeface="Calibri"/>
              </a:rPr>
              <a:t>DRAFT or CONFIDENTIAL background text on pages.</a:t>
            </a:r>
          </a:p>
        </p:txBody>
      </p:sp>
    </p:spTree>
  </p:cSld>
  <p:clrMapOvr>
    <a:masterClrMapping/>
  </p:clrMapOvr>
  <p:transition spd="med">
    <p:push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" cy="9692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969264"/>
            <a:ext cx="12188952" cy="45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28600" y="128016"/>
            <a:ext cx="548640" cy="29260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28600" y="128016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91440"/>
            <a:ext cx="10972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0F172A"/>
                </a:solidFill>
                <a:latin typeface="Calibri"/>
              </a:rPr>
              <a:t>Tables, Lists &amp; Document Organization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4864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75569"/>
                </a:solidFill>
                <a:latin typeface="Calibri"/>
              </a:rPr>
              <a:t>Tables  ·  Bullet Lists  ·  Numbered Lists  ·  Structure Tools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0" y="6565392"/>
            <a:ext cx="1218895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74320" y="6620256"/>
            <a:ext cx="9144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4A3B8"/>
                </a:solidFill>
                <a:latin typeface="Calibri"/>
              </a:rPr>
              <a:t>Word Processing Software  ·  Comprehensive Presentation — All 15 Topics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59" y="1133856"/>
            <a:ext cx="3730752" cy="3063240"/>
          </a:xfrm>
          <a:prstGeom prst="rect">
            <a:avLst/>
          </a:prstGeom>
          <a:solidFill>
            <a:srgbClr val="C0C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20040" y="1078992"/>
            <a:ext cx="3730752" cy="30632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20040" y="1078992"/>
            <a:ext cx="3730752" cy="34747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1143000"/>
            <a:ext cx="35478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Tables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" y="1499616"/>
            <a:ext cx="35295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• Insert via Insert → Table menu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" y="1883664"/>
            <a:ext cx="35295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• Merge / Split cells for complex layouts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" y="2267712"/>
            <a:ext cx="35295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• Apply built-in table styles quickly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" y="2651760"/>
            <a:ext cx="35295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• Sort data alphabetically or numerically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" y="3035808"/>
            <a:ext cx="35295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• Add formulas: SUM, AVERAGE in cells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" y="3419856"/>
            <a:ext cx="35295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• Convert text to table instantly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33672" y="1133856"/>
            <a:ext cx="3730752" cy="3063240"/>
          </a:xfrm>
          <a:prstGeom prst="rect">
            <a:avLst/>
          </a:prstGeom>
          <a:solidFill>
            <a:srgbClr val="C0C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187952" y="1078992"/>
            <a:ext cx="3730752" cy="30632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187952" y="1078992"/>
            <a:ext cx="3730752" cy="34747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325112" y="1143000"/>
            <a:ext cx="35478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Lists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15968" y="1499616"/>
            <a:ext cx="35295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• Bullet Lists — unordered (•, ✓, ▸)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15968" y="1883664"/>
            <a:ext cx="35295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• Numbered Lists — ordered (1, 2, 3...)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15968" y="2267712"/>
            <a:ext cx="35295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• Multilevel Lists — nested sub-items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15968" y="2651760"/>
            <a:ext cx="35295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• Custom bullet symbols or images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15968" y="3035808"/>
            <a:ext cx="35295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• Continue or restart numbering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15968" y="3419856"/>
            <a:ext cx="35295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• Define new list styles easily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10728" y="1133856"/>
            <a:ext cx="3794760" cy="3063240"/>
          </a:xfrm>
          <a:prstGeom prst="rect">
            <a:avLst/>
          </a:prstGeom>
          <a:solidFill>
            <a:srgbClr val="C0C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8065008" y="1078992"/>
            <a:ext cx="3794760" cy="30632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8065008" y="1078992"/>
            <a:ext cx="3794760" cy="34747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202168" y="1143000"/>
            <a:ext cx="3611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Organization Tools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93024" y="1499616"/>
            <a:ext cx="35935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• Heading Styles → Auto Table of Contents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93024" y="1883664"/>
            <a:ext cx="35935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• Bookmarks for quick navigation jumps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93024" y="2267712"/>
            <a:ext cx="35935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• Cross-references between sections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93024" y="2651760"/>
            <a:ext cx="35935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• Captions for all figures and tables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93024" y="3035808"/>
            <a:ext cx="35935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• Footnotes &amp; Endnotes support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93024" y="3419856"/>
            <a:ext cx="35935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• Index created from marked entries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20040" y="4261104"/>
            <a:ext cx="11521440" cy="215798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02920" y="431596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F172A"/>
                </a:solidFill>
                <a:latin typeface="Calibri"/>
              </a:rPr>
              <a:t>Sample Table: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84048" y="4645152"/>
            <a:ext cx="2176272" cy="329184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429768" y="4681728"/>
            <a:ext cx="2084831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Student Name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624328" y="4645152"/>
            <a:ext cx="2176272" cy="32918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2670048" y="4681728"/>
            <a:ext cx="2084831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Student ID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864608" y="4645152"/>
            <a:ext cx="2176272" cy="329184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4910328" y="4681728"/>
            <a:ext cx="2084831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Course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104888" y="4645152"/>
            <a:ext cx="2176272" cy="329184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7150608" y="4681728"/>
            <a:ext cx="2084831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Assignment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345168" y="4645152"/>
            <a:ext cx="2176272" cy="32918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9390888" y="4681728"/>
            <a:ext cx="2084831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Grade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84048" y="5010912"/>
            <a:ext cx="2176272" cy="384048"/>
          </a:xfrm>
          <a:prstGeom prst="rect">
            <a:avLst/>
          </a:prstGeom>
          <a:solidFill>
            <a:srgbClr val="F0F4F8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429768" y="5047488"/>
            <a:ext cx="208483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0F172A"/>
                </a:solidFill>
                <a:latin typeface="Calibri"/>
              </a:rPr>
              <a:t>Ahmed Hassan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624328" y="5010912"/>
            <a:ext cx="2176272" cy="384048"/>
          </a:xfrm>
          <a:prstGeom prst="rect">
            <a:avLst/>
          </a:prstGeom>
          <a:solidFill>
            <a:srgbClr val="F0F4F8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2670048" y="5047488"/>
            <a:ext cx="208483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0F172A"/>
                </a:solidFill>
                <a:latin typeface="Calibri"/>
              </a:rPr>
              <a:t>2024001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864608" y="5010912"/>
            <a:ext cx="2176272" cy="384048"/>
          </a:xfrm>
          <a:prstGeom prst="rect">
            <a:avLst/>
          </a:prstGeom>
          <a:solidFill>
            <a:srgbClr val="F0F4F8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4910328" y="5047488"/>
            <a:ext cx="208483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0F172A"/>
                </a:solidFill>
                <a:latin typeface="Calibri"/>
              </a:rPr>
              <a:t>CSE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104888" y="5010912"/>
            <a:ext cx="2176272" cy="384048"/>
          </a:xfrm>
          <a:prstGeom prst="rect">
            <a:avLst/>
          </a:prstGeom>
          <a:solidFill>
            <a:srgbClr val="F0F4F8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7150608" y="5047488"/>
            <a:ext cx="208483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0F172A"/>
                </a:solidFill>
                <a:latin typeface="Calibri"/>
              </a:rPr>
              <a:t>Assignment 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345168" y="5010912"/>
            <a:ext cx="2176272" cy="384048"/>
          </a:xfrm>
          <a:prstGeom prst="rect">
            <a:avLst/>
          </a:prstGeom>
          <a:solidFill>
            <a:srgbClr val="F0F4F8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9390888" y="5047488"/>
            <a:ext cx="208483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0F172A"/>
                </a:solidFill>
                <a:latin typeface="Calibri"/>
              </a:rPr>
              <a:t>A+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84048" y="5431536"/>
            <a:ext cx="2176272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429768" y="5468112"/>
            <a:ext cx="208483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0F172A"/>
                </a:solidFill>
                <a:latin typeface="Calibri"/>
              </a:rPr>
              <a:t>Sarah Islam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624328" y="5431536"/>
            <a:ext cx="2176272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2670048" y="5468112"/>
            <a:ext cx="208483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0F172A"/>
                </a:solidFill>
                <a:latin typeface="Calibri"/>
              </a:rPr>
              <a:t>2024002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864608" y="5431536"/>
            <a:ext cx="2176272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4910328" y="5468112"/>
            <a:ext cx="208483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0F172A"/>
                </a:solidFill>
                <a:latin typeface="Calibri"/>
              </a:rPr>
              <a:t>BBA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104888" y="5431536"/>
            <a:ext cx="2176272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7150608" y="5468112"/>
            <a:ext cx="208483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0F172A"/>
                </a:solidFill>
                <a:latin typeface="Calibri"/>
              </a:rPr>
              <a:t>Project Work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345168" y="5431536"/>
            <a:ext cx="2176272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9390888" y="5468112"/>
            <a:ext cx="208483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0F172A"/>
                </a:solidFill>
                <a:latin typeface="Calibri"/>
              </a:rPr>
              <a:t>A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84048" y="5852159"/>
            <a:ext cx="2176272" cy="384048"/>
          </a:xfrm>
          <a:prstGeom prst="rect">
            <a:avLst/>
          </a:prstGeom>
          <a:solidFill>
            <a:srgbClr val="F0F4F8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429768" y="5888736"/>
            <a:ext cx="208483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0F172A"/>
                </a:solidFill>
                <a:latin typeface="Calibri"/>
              </a:rPr>
              <a:t>Rahim Uddin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624328" y="5852159"/>
            <a:ext cx="2176272" cy="384048"/>
          </a:xfrm>
          <a:prstGeom prst="rect">
            <a:avLst/>
          </a:prstGeom>
          <a:solidFill>
            <a:srgbClr val="F0F4F8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2670048" y="5888736"/>
            <a:ext cx="208483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0F172A"/>
                </a:solidFill>
                <a:latin typeface="Calibri"/>
              </a:rPr>
              <a:t>2024003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864608" y="5852159"/>
            <a:ext cx="2176272" cy="384048"/>
          </a:xfrm>
          <a:prstGeom prst="rect">
            <a:avLst/>
          </a:prstGeom>
          <a:solidFill>
            <a:srgbClr val="F0F4F8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4910328" y="5888736"/>
            <a:ext cx="208483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0F172A"/>
                </a:solidFill>
                <a:latin typeface="Calibri"/>
              </a:rPr>
              <a:t>EEE</a:t>
            </a:r>
          </a:p>
        </p:txBody>
      </p:sp>
      <p:sp>
        <p:nvSpPr>
          <p:cNvPr id="81" name="Rectangle 80"/>
          <p:cNvSpPr/>
          <p:nvPr/>
        </p:nvSpPr>
        <p:spPr>
          <a:xfrm>
            <a:off x="7104888" y="5852159"/>
            <a:ext cx="2176272" cy="384048"/>
          </a:xfrm>
          <a:prstGeom prst="rect">
            <a:avLst/>
          </a:prstGeom>
          <a:solidFill>
            <a:srgbClr val="F0F4F8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7150608" y="5888736"/>
            <a:ext cx="208483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0F172A"/>
                </a:solidFill>
                <a:latin typeface="Calibri"/>
              </a:rPr>
              <a:t>Lab Report</a:t>
            </a:r>
          </a:p>
        </p:txBody>
      </p:sp>
      <p:sp>
        <p:nvSpPr>
          <p:cNvPr id="83" name="Rectangle 82"/>
          <p:cNvSpPr/>
          <p:nvPr/>
        </p:nvSpPr>
        <p:spPr>
          <a:xfrm>
            <a:off x="9345168" y="5852159"/>
            <a:ext cx="2176272" cy="384048"/>
          </a:xfrm>
          <a:prstGeom prst="rect">
            <a:avLst/>
          </a:prstGeom>
          <a:solidFill>
            <a:srgbClr val="F0F4F8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9390888" y="5888736"/>
            <a:ext cx="208483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0F172A"/>
                </a:solidFill>
                <a:latin typeface="Calibri"/>
              </a:rPr>
              <a:t>A+</a:t>
            </a:r>
          </a:p>
        </p:txBody>
      </p:sp>
    </p:spTree>
  </p:cSld>
  <p:clrMapOvr>
    <a:masterClrMapping/>
  </p:clrMapOvr>
  <p:transition spd="med">
    <p:push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" cy="9692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969264"/>
            <a:ext cx="12188952" cy="45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28600" y="128016"/>
            <a:ext cx="548640" cy="29260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28600" y="128016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91440"/>
            <a:ext cx="10972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0F172A"/>
                </a:solidFill>
                <a:latin typeface="Calibri"/>
              </a:rPr>
              <a:t>Inserting &amp; Managing Images, Shapes &amp; Graphics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4864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75569"/>
                </a:solidFill>
                <a:latin typeface="Calibri"/>
              </a:rPr>
              <a:t>Insert Tab  ·  Picture Tools  ·  SmartArt  ·  Drawing Tools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0" y="6565392"/>
            <a:ext cx="1218895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74320" y="6620256"/>
            <a:ext cx="9144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4A3B8"/>
                </a:solidFill>
                <a:latin typeface="Calibri"/>
              </a:rPr>
              <a:t>Word Processing Software  ·  Comprehensive Presentation — All 15 Topics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59" y="1133856"/>
            <a:ext cx="3767328" cy="1609344"/>
          </a:xfrm>
          <a:prstGeom prst="rect">
            <a:avLst/>
          </a:prstGeom>
          <a:solidFill>
            <a:srgbClr val="C0C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20040" y="1078992"/>
            <a:ext cx="3767328" cy="16093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20040" y="1078992"/>
            <a:ext cx="3767328" cy="32918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48056" y="114300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Insert Picture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" y="1499616"/>
            <a:ext cx="3566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75569"/>
                </a:solidFill>
                <a:latin typeface="Calibri"/>
              </a:rPr>
              <a:t>Insert → Pictures → Device or Online. Supports JPG, PNG, SVG.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25112" y="1133856"/>
            <a:ext cx="3767328" cy="1609344"/>
          </a:xfrm>
          <a:prstGeom prst="rect">
            <a:avLst/>
          </a:prstGeom>
          <a:solidFill>
            <a:srgbClr val="C0C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279392" y="1078992"/>
            <a:ext cx="3767328" cy="16093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279392" y="1078992"/>
            <a:ext cx="3767328" cy="329184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407407" y="114300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Resize &amp; Crop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07407" y="1499616"/>
            <a:ext cx="3566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75569"/>
                </a:solidFill>
                <a:latin typeface="Calibri"/>
              </a:rPr>
              <a:t>Drag corner handles to resize. Format → Crop to trim images.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84464" y="1133856"/>
            <a:ext cx="3767328" cy="1609344"/>
          </a:xfrm>
          <a:prstGeom prst="rect">
            <a:avLst/>
          </a:prstGeom>
          <a:solidFill>
            <a:srgbClr val="C0C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238744" y="1078992"/>
            <a:ext cx="3767328" cy="16093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238744" y="1078992"/>
            <a:ext cx="3767328" cy="32918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366760" y="114300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Text Wrapping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66760" y="1499616"/>
            <a:ext cx="3566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75569"/>
                </a:solidFill>
                <a:latin typeface="Calibri"/>
              </a:rPr>
              <a:t>Inline, Square, Tight, Through, Behind/In Front of Text.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59" y="2889503"/>
            <a:ext cx="3767328" cy="1609344"/>
          </a:xfrm>
          <a:prstGeom prst="rect">
            <a:avLst/>
          </a:prstGeom>
          <a:solidFill>
            <a:srgbClr val="C0C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320040" y="2834639"/>
            <a:ext cx="3767328" cy="16093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320040" y="2834639"/>
            <a:ext cx="3767328" cy="329184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48056" y="2898647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Insert Shapes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056" y="3255263"/>
            <a:ext cx="3566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75569"/>
                </a:solidFill>
                <a:latin typeface="Calibri"/>
              </a:rPr>
              <a:t>Insert → Shapes — lines, rectangles, arrows, callouts &amp; more.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25112" y="2889503"/>
            <a:ext cx="3767328" cy="1609344"/>
          </a:xfrm>
          <a:prstGeom prst="rect">
            <a:avLst/>
          </a:prstGeom>
          <a:solidFill>
            <a:srgbClr val="C0C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4279392" y="2834639"/>
            <a:ext cx="3767328" cy="16093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4279392" y="2834639"/>
            <a:ext cx="3767328" cy="329184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407407" y="2898647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Format Shapes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07407" y="3255263"/>
            <a:ext cx="3566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75569"/>
                </a:solidFill>
                <a:latin typeface="Calibri"/>
              </a:rPr>
              <a:t>Fill color, outline, shadow, 3D effects via Format tab.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84464" y="2889503"/>
            <a:ext cx="3767328" cy="1609344"/>
          </a:xfrm>
          <a:prstGeom prst="rect">
            <a:avLst/>
          </a:prstGeom>
          <a:solidFill>
            <a:srgbClr val="C0C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8238744" y="2834639"/>
            <a:ext cx="3767328" cy="16093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8238744" y="2834639"/>
            <a:ext cx="3767328" cy="32918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366760" y="2898647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SmartArt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66760" y="3255263"/>
            <a:ext cx="3566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75569"/>
                </a:solidFill>
                <a:latin typeface="Calibri"/>
              </a:rPr>
              <a:t>Insert → SmartArt — diagrams, process flows, org charts.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59" y="4645151"/>
            <a:ext cx="3767328" cy="1609344"/>
          </a:xfrm>
          <a:prstGeom prst="rect">
            <a:avLst/>
          </a:prstGeom>
          <a:solidFill>
            <a:srgbClr val="C0C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320040" y="4590288"/>
            <a:ext cx="3767328" cy="16093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320040" y="4590288"/>
            <a:ext cx="3767328" cy="32918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448056" y="4654296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Icons &amp; Charts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8056" y="5010912"/>
            <a:ext cx="3566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75569"/>
                </a:solidFill>
                <a:latin typeface="Calibri"/>
              </a:rPr>
              <a:t>Insert modern icons, bar charts, pie charts, line graphs.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325112" y="4645151"/>
            <a:ext cx="3767328" cy="1609344"/>
          </a:xfrm>
          <a:prstGeom prst="rect">
            <a:avLst/>
          </a:prstGeom>
          <a:solidFill>
            <a:srgbClr val="C0C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4279392" y="4590288"/>
            <a:ext cx="3767328" cy="16093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4279392" y="4590288"/>
            <a:ext cx="3767328" cy="32918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4407407" y="4654296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Group Objects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07407" y="5010912"/>
            <a:ext cx="3566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75569"/>
                </a:solidFill>
                <a:latin typeface="Calibri"/>
              </a:rPr>
              <a:t>Select multiple → Right-click → Group to move together.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284464" y="4645151"/>
            <a:ext cx="3767328" cy="1609344"/>
          </a:xfrm>
          <a:prstGeom prst="rect">
            <a:avLst/>
          </a:prstGeom>
          <a:solidFill>
            <a:srgbClr val="C0C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8238744" y="4590288"/>
            <a:ext cx="3767328" cy="16093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8238744" y="4590288"/>
            <a:ext cx="3767328" cy="329184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8366760" y="4654296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Alt Text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66760" y="5010912"/>
            <a:ext cx="3566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75569"/>
                </a:solidFill>
                <a:latin typeface="Calibri"/>
              </a:rPr>
              <a:t>Add descriptive alt text for accessibility (Right-click image).</a:t>
            </a:r>
          </a:p>
        </p:txBody>
      </p:sp>
    </p:spTree>
  </p:cSld>
  <p:clrMapOvr>
    <a:masterClrMapping/>
  </p:clrMapOvr>
  <p:transition spd="med">
    <p:push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" cy="9692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969264"/>
            <a:ext cx="12188952" cy="45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28600" y="128016"/>
            <a:ext cx="548640" cy="29260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28600" y="128016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91440"/>
            <a:ext cx="10972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0F172A"/>
                </a:solidFill>
                <a:latin typeface="Calibri"/>
              </a:rPr>
              <a:t>Headers, Footers, Page Numbers &amp; Navigation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4864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75569"/>
                </a:solidFill>
                <a:latin typeface="Calibri"/>
              </a:rPr>
              <a:t>Insert Tab  ·  Header &amp; Footer Tools  ·  Navigation Pane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0" y="6565392"/>
            <a:ext cx="1218895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74320" y="6620256"/>
            <a:ext cx="9144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4A3B8"/>
                </a:solidFill>
                <a:latin typeface="Calibri"/>
              </a:rPr>
              <a:t>Word Processing Software  ·  Comprehensive Presentation — All 15 Topics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1078992"/>
            <a:ext cx="5806440" cy="5394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20040" y="1078992"/>
            <a:ext cx="5806440" cy="31089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2920" y="1133856"/>
            <a:ext cx="5486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Headers &amp; Footers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1481328"/>
            <a:ext cx="5623560" cy="731520"/>
          </a:xfrm>
          <a:prstGeom prst="rect">
            <a:avLst/>
          </a:prstGeom>
          <a:solidFill>
            <a:srgbClr val="F0F4F8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11480" y="1481328"/>
            <a:ext cx="73152" cy="73152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66928" y="1554480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D4ED8"/>
                </a:solidFill>
                <a:latin typeface="Calibri"/>
              </a:rPr>
              <a:t>How to Insert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1810512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Insert Tab → Header → Choose a style, or click Edit Header. Double-click header/footer area at any time.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2304288"/>
            <a:ext cx="562356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11480" y="2304288"/>
            <a:ext cx="73152" cy="7315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66928" y="2377440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7C3AED"/>
                </a:solidFill>
                <a:latin typeface="Calibri"/>
              </a:rPr>
              <a:t>Header Content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2633472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Document title, company name, chapter name, logo image, or date.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3127248"/>
            <a:ext cx="5623560" cy="731520"/>
          </a:xfrm>
          <a:prstGeom prst="rect">
            <a:avLst/>
          </a:prstGeom>
          <a:solidFill>
            <a:srgbClr val="F0F4F8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11480" y="3127248"/>
            <a:ext cx="73152" cy="7315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66928" y="3200400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DC2626"/>
                </a:solidFill>
                <a:latin typeface="Calibri"/>
              </a:rPr>
              <a:t>Footer Content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3456432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Page numbers, author name, file path, date, confidentiality.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3950208"/>
            <a:ext cx="562356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411480" y="3950208"/>
            <a:ext cx="73152" cy="73152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66928" y="4023360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891B2"/>
                </a:solidFill>
                <a:latin typeface="Calibri"/>
              </a:rPr>
              <a:t>Different Pages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4279392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Insert → Header → Edit Header → Check 'Different First Page' or 'Different Odd &amp; Even'.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4773168"/>
            <a:ext cx="5623560" cy="731520"/>
          </a:xfrm>
          <a:prstGeom prst="rect">
            <a:avLst/>
          </a:prstGeom>
          <a:solidFill>
            <a:srgbClr val="F0F4F8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411480" y="4773168"/>
            <a:ext cx="73152" cy="7315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66928" y="4846320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EA580C"/>
                </a:solidFill>
                <a:latin typeface="Calibri"/>
              </a:rPr>
              <a:t>Link to Previous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5102352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When using sections, use 'Link to Previous' to keep headers consistent.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" y="5596128"/>
            <a:ext cx="562356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411480" y="5596128"/>
            <a:ext cx="73152" cy="7315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66928" y="5669280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59669"/>
                </a:solidFill>
                <a:latin typeface="Calibri"/>
              </a:rPr>
              <a:t>Remove Header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" y="5925312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Double-click header area → Select All (Ctrl+A) → Delete → Close.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55080" y="1078992"/>
            <a:ext cx="5513832" cy="254203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6355080" y="1078992"/>
            <a:ext cx="5513832" cy="31089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537960" y="1133856"/>
            <a:ext cx="51206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Page Numbers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46520" y="1481328"/>
            <a:ext cx="5330952" cy="365760"/>
          </a:xfrm>
          <a:prstGeom prst="rect">
            <a:avLst/>
          </a:prstGeom>
          <a:solidFill>
            <a:srgbClr val="F0F4F8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565392" y="1499616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C2626"/>
                </a:solidFill>
                <a:latin typeface="Calibri"/>
              </a:rPr>
              <a:t>Insert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19872" y="1499616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Insert → Page Number → choose Top, Bottom, Page Margin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46520" y="1920239"/>
            <a:ext cx="5330952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565392" y="1938528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C2626"/>
                </a:solidFill>
                <a:latin typeface="Calibri"/>
              </a:rPr>
              <a:t>Format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19872" y="193852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Insert → Page Number → Format Page Numbers (Roman: i, ii…)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446520" y="2359152"/>
            <a:ext cx="5330952" cy="365760"/>
          </a:xfrm>
          <a:prstGeom prst="rect">
            <a:avLst/>
          </a:prstGeom>
          <a:solidFill>
            <a:srgbClr val="F0F4F8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565392" y="2377439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C2626"/>
                </a:solidFill>
                <a:latin typeface="Calibri"/>
              </a:rPr>
              <a:t>Start Number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119872" y="2377439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Set starting number — useful for multi-chapter documents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446520" y="2798063"/>
            <a:ext cx="5330952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565392" y="2816352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C2626"/>
                </a:solidFill>
                <a:latin typeface="Calibri"/>
              </a:rPr>
              <a:t>Remove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19872" y="2816352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Insert → Header &amp; Footer → Remove Page Numbers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446520" y="3236976"/>
            <a:ext cx="5330952" cy="365760"/>
          </a:xfrm>
          <a:prstGeom prst="rect">
            <a:avLst/>
          </a:prstGeom>
          <a:solidFill>
            <a:srgbClr val="F0F4F8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565392" y="3255263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C2626"/>
                </a:solidFill>
                <a:latin typeface="Calibri"/>
              </a:rPr>
              <a:t>Current/Total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19872" y="3255263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Use PAGE/NUMPAGES fields to show '3 of 15' format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355080" y="3712463"/>
            <a:ext cx="5513832" cy="276148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6355080" y="3712463"/>
            <a:ext cx="5513832" cy="31089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537960" y="3767328"/>
            <a:ext cx="51206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Document Navigation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446520" y="4114800"/>
            <a:ext cx="5330952" cy="347472"/>
          </a:xfrm>
          <a:prstGeom prst="rect">
            <a:avLst/>
          </a:prstGeom>
          <a:solidFill>
            <a:srgbClr val="F0F4F8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6565392" y="4133087"/>
            <a:ext cx="1463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C3AED"/>
                </a:solidFill>
                <a:latin typeface="Calibri"/>
              </a:rPr>
              <a:t>Navigation Pane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119872" y="4133087"/>
            <a:ext cx="3657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View → Navigation Pane — jump between headings, pages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446520" y="4517136"/>
            <a:ext cx="5330952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6565392" y="4535424"/>
            <a:ext cx="1463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C3AED"/>
                </a:solidFill>
                <a:latin typeface="Calibri"/>
              </a:rPr>
              <a:t>Find (Ctrl+F)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19872" y="4535424"/>
            <a:ext cx="3657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Instantly search for any word, phrase, or format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446520" y="4919472"/>
            <a:ext cx="5330952" cy="347472"/>
          </a:xfrm>
          <a:prstGeom prst="rect">
            <a:avLst/>
          </a:prstGeom>
          <a:solidFill>
            <a:srgbClr val="F0F4F8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6565392" y="4937759"/>
            <a:ext cx="1463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C3AED"/>
                </a:solidFill>
                <a:latin typeface="Calibri"/>
              </a:rPr>
              <a:t>Go To (Ctrl+G)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119872" y="4937759"/>
            <a:ext cx="3657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Jump to page, section, line, bookmark, or comment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446520" y="5321808"/>
            <a:ext cx="5330952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6565392" y="5340096"/>
            <a:ext cx="1463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C3AED"/>
                </a:solidFill>
                <a:latin typeface="Calibri"/>
              </a:rPr>
              <a:t>Bookmarks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19872" y="5340096"/>
            <a:ext cx="3657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Insert → Bookmark — mark locations for quick return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446520" y="5724144"/>
            <a:ext cx="5330952" cy="347472"/>
          </a:xfrm>
          <a:prstGeom prst="rect">
            <a:avLst/>
          </a:prstGeom>
          <a:solidFill>
            <a:srgbClr val="F0F4F8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6565392" y="5742431"/>
            <a:ext cx="1463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C3AED"/>
                </a:solidFill>
                <a:latin typeface="Calibri"/>
              </a:rPr>
              <a:t>Hyperlinks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119872" y="5742431"/>
            <a:ext cx="3657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Link text to pages, URLs, emails, or bookmarks within doc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446520" y="6126480"/>
            <a:ext cx="5330952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6565392" y="6144768"/>
            <a:ext cx="1463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C3AED"/>
                </a:solidFill>
                <a:latin typeface="Calibri"/>
              </a:rPr>
              <a:t>Document Map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19872" y="6144768"/>
            <a:ext cx="3657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Use Heading Styles to build automatic navigation map</a:t>
            </a:r>
          </a:p>
        </p:txBody>
      </p:sp>
    </p:spTree>
  </p:cSld>
  <p:clrMapOvr>
    <a:masterClrMapping/>
  </p:clrMapOvr>
  <p:transition spd="med">
    <p:push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" cy="9692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969264"/>
            <a:ext cx="12188952" cy="45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28600" y="128016"/>
            <a:ext cx="548640" cy="29260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28600" y="128016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91440"/>
            <a:ext cx="10972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0F172A"/>
                </a:solidFill>
                <a:latin typeface="Calibri"/>
              </a:rPr>
              <a:t>Editing Tools — Spell Check, Grammar &amp; Find/Replace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4864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75569"/>
                </a:solidFill>
                <a:latin typeface="Calibri"/>
              </a:rPr>
              <a:t>Review Tab  ·  Find &amp; Replace  ·  AutoCorrect  ·  Editor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0" y="6565392"/>
            <a:ext cx="1218895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74320" y="6620256"/>
            <a:ext cx="9144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4A3B8"/>
                </a:solidFill>
                <a:latin typeface="Calibri"/>
              </a:rPr>
              <a:t>Word Processing Software  ·  Comprehensive Presentation — All 15 Topics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59" y="1133856"/>
            <a:ext cx="3767328" cy="1609344"/>
          </a:xfrm>
          <a:prstGeom prst="rect">
            <a:avLst/>
          </a:prstGeom>
          <a:solidFill>
            <a:srgbClr val="C0C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20040" y="1078992"/>
            <a:ext cx="3767328" cy="16093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20040" y="1078992"/>
            <a:ext cx="3767328" cy="329184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48056" y="114300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F7  Spell Check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" y="1499616"/>
            <a:ext cx="3566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75569"/>
                </a:solidFill>
                <a:latin typeface="Calibri"/>
              </a:rPr>
              <a:t>Red wavy underlines flag spelling errors. Right-click for suggestions. Works in 100+ languages.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25112" y="1133856"/>
            <a:ext cx="3767328" cy="1609344"/>
          </a:xfrm>
          <a:prstGeom prst="rect">
            <a:avLst/>
          </a:prstGeom>
          <a:solidFill>
            <a:srgbClr val="C0C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279392" y="1078992"/>
            <a:ext cx="3767328" cy="16093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279392" y="1078992"/>
            <a:ext cx="3767328" cy="32918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407407" y="114300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Grammar Check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07407" y="1499616"/>
            <a:ext cx="3566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75569"/>
                </a:solidFill>
                <a:latin typeface="Calibri"/>
              </a:rPr>
              <a:t>Blue underlines flag grammar issues. 'Editor' pane gives AI-powered writing improvement suggestions.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84464" y="1133856"/>
            <a:ext cx="3767328" cy="1609344"/>
          </a:xfrm>
          <a:prstGeom prst="rect">
            <a:avLst/>
          </a:prstGeom>
          <a:solidFill>
            <a:srgbClr val="C0C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238744" y="1078992"/>
            <a:ext cx="3767328" cy="16093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238744" y="1078992"/>
            <a:ext cx="3767328" cy="32918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366760" y="114300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Ctrl+F  Find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66760" y="1499616"/>
            <a:ext cx="3566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75569"/>
                </a:solidFill>
                <a:latin typeface="Calibri"/>
              </a:rPr>
              <a:t>Instantly locate any word, phrase, or formatting in the whole document. Highlights all matches.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59" y="2889503"/>
            <a:ext cx="3767328" cy="1609344"/>
          </a:xfrm>
          <a:prstGeom prst="rect">
            <a:avLst/>
          </a:prstGeom>
          <a:solidFill>
            <a:srgbClr val="C0C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320040" y="2834639"/>
            <a:ext cx="3767328" cy="16093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320040" y="2834639"/>
            <a:ext cx="3767328" cy="329184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48056" y="2898647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Ctrl+H  Replace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056" y="3255263"/>
            <a:ext cx="3566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75569"/>
                </a:solidFill>
                <a:latin typeface="Calibri"/>
              </a:rPr>
              <a:t>Find and replace text throughout the document — ideal for bulk name or term replacements.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25112" y="2889503"/>
            <a:ext cx="3767328" cy="1609344"/>
          </a:xfrm>
          <a:prstGeom prst="rect">
            <a:avLst/>
          </a:prstGeom>
          <a:solidFill>
            <a:srgbClr val="C0C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4279392" y="2834639"/>
            <a:ext cx="3767328" cy="16093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4279392" y="2834639"/>
            <a:ext cx="3767328" cy="329184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407407" y="2898647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AutoCorrect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07407" y="3255263"/>
            <a:ext cx="3566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75569"/>
                </a:solidFill>
                <a:latin typeface="Calibri"/>
              </a:rPr>
              <a:t>Automatically corrects common typos (teh→the) and expands shortcuts. Customizable list.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84464" y="2889503"/>
            <a:ext cx="3767328" cy="1609344"/>
          </a:xfrm>
          <a:prstGeom prst="rect">
            <a:avLst/>
          </a:prstGeom>
          <a:solidFill>
            <a:srgbClr val="C0C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8238744" y="2834639"/>
            <a:ext cx="3767328" cy="16093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8238744" y="2834639"/>
            <a:ext cx="3767328" cy="32918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366760" y="2898647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Track Changes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66760" y="3255263"/>
            <a:ext cx="3566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75569"/>
                </a:solidFill>
                <a:latin typeface="Calibri"/>
              </a:rPr>
              <a:t>Records every edit with author name and timestamp. Reviewers can Accept or Reject changes.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59" y="4645151"/>
            <a:ext cx="3767328" cy="1609344"/>
          </a:xfrm>
          <a:prstGeom prst="rect">
            <a:avLst/>
          </a:prstGeom>
          <a:solidFill>
            <a:srgbClr val="C0C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320040" y="4590288"/>
            <a:ext cx="3767328" cy="16093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320040" y="4590288"/>
            <a:ext cx="3767328" cy="329184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448056" y="4654296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Comments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8056" y="5010912"/>
            <a:ext cx="3566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75569"/>
                </a:solidFill>
                <a:latin typeface="Calibri"/>
              </a:rPr>
              <a:t>Insert comments that appear in the margin. Use @mention to notify teammates in shared docs.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325112" y="4645151"/>
            <a:ext cx="3767328" cy="1609344"/>
          </a:xfrm>
          <a:prstGeom prst="rect">
            <a:avLst/>
          </a:prstGeom>
          <a:solidFill>
            <a:srgbClr val="C0C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4279392" y="4590288"/>
            <a:ext cx="3767328" cy="16093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4279392" y="4590288"/>
            <a:ext cx="3767328" cy="32918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4407407" y="4654296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Read Aloud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07407" y="5010912"/>
            <a:ext cx="3566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75569"/>
                </a:solidFill>
                <a:latin typeface="Calibri"/>
              </a:rPr>
              <a:t>Review → Read Aloud — the document is read out, great for proofreading by listening.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284464" y="4645151"/>
            <a:ext cx="3767328" cy="1609344"/>
          </a:xfrm>
          <a:prstGeom prst="rect">
            <a:avLst/>
          </a:prstGeom>
          <a:solidFill>
            <a:srgbClr val="C0C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8238744" y="4590288"/>
            <a:ext cx="3767328" cy="16093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8238744" y="4590288"/>
            <a:ext cx="3767328" cy="32918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8366760" y="4654296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Word Count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66760" y="5010912"/>
            <a:ext cx="3566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75569"/>
                </a:solidFill>
                <a:latin typeface="Calibri"/>
              </a:rPr>
              <a:t>Review → Word Count shows words, characters, paragraphs, lines. Also shown in Status Bar.</a:t>
            </a:r>
          </a:p>
        </p:txBody>
      </p:sp>
    </p:spTree>
  </p:cSld>
  <p:clrMapOvr>
    <a:masterClrMapping/>
  </p:clrMapOvr>
  <p:transition spd="med">
    <p:push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" cy="9692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969264"/>
            <a:ext cx="12188952" cy="45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28600" y="128016"/>
            <a:ext cx="548640" cy="29260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28600" y="128016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91440"/>
            <a:ext cx="10972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0F172A"/>
                </a:solidFill>
                <a:latin typeface="Calibri"/>
              </a:rPr>
              <a:t>Templates, Styles &amp; Document Design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4864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75569"/>
                </a:solidFill>
                <a:latin typeface="Calibri"/>
              </a:rPr>
              <a:t>Built-in Templates  ·  Heading Styles  ·  Themes  ·  Table of Contents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0" y="6565392"/>
            <a:ext cx="1218895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74320" y="6620256"/>
            <a:ext cx="9144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4A3B8"/>
                </a:solidFill>
                <a:latin typeface="Calibri"/>
              </a:rPr>
              <a:t>Word Processing Software  ·  Comprehensive Presentation — All 15 Topics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59" y="1133856"/>
            <a:ext cx="3730752" cy="5376672"/>
          </a:xfrm>
          <a:prstGeom prst="rect">
            <a:avLst/>
          </a:prstGeom>
          <a:solidFill>
            <a:srgbClr val="C0C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20040" y="1078992"/>
            <a:ext cx="3730752" cy="53766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20040" y="1078992"/>
            <a:ext cx="3730752" cy="34747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1143000"/>
            <a:ext cx="35478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Built-in Templates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" y="1499616"/>
            <a:ext cx="35295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• File → New → search templates online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" y="1883664"/>
            <a:ext cx="35295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• CV / Resume — professional layouts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" y="2267712"/>
            <a:ext cx="35295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• Business Letter — formal format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" y="2651760"/>
            <a:ext cx="35295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• Report — with TOC and headings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" y="3035808"/>
            <a:ext cx="35295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• Newsletter — multi-column layout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" y="3419856"/>
            <a:ext cx="35295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• Invoice — table-based billing form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" y="3803904"/>
            <a:ext cx="35295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• Flyer — visual marketing layouts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" y="4187952"/>
            <a:ext cx="35295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• Calendar — monthly/weekly planners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" y="4572000"/>
            <a:ext cx="35295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• Certificate — award design templates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" y="4956048"/>
            <a:ext cx="35295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• Custom templates — File → Save As → .dotx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33672" y="1133856"/>
            <a:ext cx="3730752" cy="5376672"/>
          </a:xfrm>
          <a:prstGeom prst="rect">
            <a:avLst/>
          </a:prstGeom>
          <a:solidFill>
            <a:srgbClr val="C0C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4187952" y="1078992"/>
            <a:ext cx="3730752" cy="53766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4187952" y="1078992"/>
            <a:ext cx="3730752" cy="34747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325112" y="1143000"/>
            <a:ext cx="35478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Heading Styles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15968" y="1499616"/>
            <a:ext cx="35295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• Home → Styles pane → pick Heading 1-6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15968" y="1883664"/>
            <a:ext cx="35295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• Heading 1 — Main section titles (16-18pt)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15968" y="2267712"/>
            <a:ext cx="35295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• Heading 2 — Sub-sections (14-16pt)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15968" y="2651760"/>
            <a:ext cx="35295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• Heading 3 — Sub-sub-sections (12-14pt)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15968" y="3035808"/>
            <a:ext cx="35295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• Normal — Body paragraph text (11-12pt)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15968" y="3419856"/>
            <a:ext cx="35295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• Modify styles — right-click → Modify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15968" y="3803904"/>
            <a:ext cx="35295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• Style Sets — change all headings at once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15968" y="4187952"/>
            <a:ext cx="35295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• Auto generates Table of Contents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15968" y="4572000"/>
            <a:ext cx="35295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• Enables Navigation Pane headings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15968" y="4956048"/>
            <a:ext cx="35295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• Critical for long academic documents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10728" y="1133856"/>
            <a:ext cx="3794760" cy="5376672"/>
          </a:xfrm>
          <a:prstGeom prst="rect">
            <a:avLst/>
          </a:prstGeom>
          <a:solidFill>
            <a:srgbClr val="C0C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8065008" y="1078992"/>
            <a:ext cx="3794760" cy="53766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8065008" y="1078992"/>
            <a:ext cx="3794760" cy="34747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202168" y="1143000"/>
            <a:ext cx="3611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Themes &amp; Table of Contents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93024" y="1499616"/>
            <a:ext cx="35935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• Design Tab → Themes — full visual makeover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93024" y="1883664"/>
            <a:ext cx="35935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• Each theme changes fonts, colors, effects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93024" y="2267712"/>
            <a:ext cx="35935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• Colors — swap palette keeping structure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93024" y="2651760"/>
            <a:ext cx="35935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• Fonts — pair heading + body fonts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93024" y="3035808"/>
            <a:ext cx="35935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• Page Color — background page color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93024" y="3419856"/>
            <a:ext cx="35935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• Watermark — DRAFT or custom text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193024" y="3803904"/>
            <a:ext cx="35935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• TOC: References → Table of Contents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193024" y="4187952"/>
            <a:ext cx="35935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• Auto-updated with Ctrl+A → F9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93024" y="4572000"/>
            <a:ext cx="35935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• Clickable links in digital documents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93024" y="4956048"/>
            <a:ext cx="35935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• Custom TOC levels and formatting</a:t>
            </a:r>
          </a:p>
        </p:txBody>
      </p:sp>
    </p:spTree>
  </p:cSld>
  <p:clrMapOvr>
    <a:masterClrMapping/>
  </p:clrMapOvr>
  <p:transition spd="med">
    <p:push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" cy="9692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969264"/>
            <a:ext cx="12188952" cy="45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28600" y="128016"/>
            <a:ext cx="548640" cy="29260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28600" y="128016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91440"/>
            <a:ext cx="10972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0F172A"/>
                </a:solidFill>
                <a:latin typeface="Calibri"/>
              </a:rPr>
              <a:t>Mail Merge &amp; Document Automation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4864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75569"/>
                </a:solidFill>
                <a:latin typeface="Calibri"/>
              </a:rPr>
              <a:t>Mailings Tab  ·  Data Sources  ·  Merge Fields  ·  Output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0" y="6565392"/>
            <a:ext cx="1218895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74320" y="6620256"/>
            <a:ext cx="9144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4A3B8"/>
                </a:solidFill>
                <a:latin typeface="Calibri"/>
              </a:rPr>
              <a:t>Word Processing Software  ·  Comprehensive Presentation — All 15 Topics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3474720"/>
            <a:ext cx="6675120" cy="29809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20040" y="3474720"/>
            <a:ext cx="6675120" cy="310896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2920" y="3529584"/>
            <a:ext cx="6400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Mail Merge Step-by-Step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877056"/>
            <a:ext cx="310896" cy="32918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11480" y="3895344"/>
            <a:ext cx="310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895344"/>
            <a:ext cx="6035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75569"/>
                </a:solidFill>
                <a:latin typeface="Calibri"/>
              </a:rPr>
              <a:t>Mailings Tab → Start Mail Merge → Letters / Envelopes / Labels / Email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4297680"/>
            <a:ext cx="310896" cy="329184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11480" y="4315968"/>
            <a:ext cx="310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315968"/>
            <a:ext cx="6035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75569"/>
                </a:solidFill>
                <a:latin typeface="Calibri"/>
              </a:rPr>
              <a:t>Select Recipients → Use an Existing List (Excel .xlsx) or create new list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718304"/>
            <a:ext cx="310896" cy="32918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11480" y="4736592"/>
            <a:ext cx="310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4736592"/>
            <a:ext cx="6035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75569"/>
                </a:solidFill>
                <a:latin typeface="Calibri"/>
              </a:rPr>
              <a:t>Insert Merge Field → place «FirstName», «Address» etc. in the document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5138928"/>
            <a:ext cx="310896" cy="329184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11480" y="5157216"/>
            <a:ext cx="310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5157216"/>
            <a:ext cx="6035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75569"/>
                </a:solidFill>
                <a:latin typeface="Calibri"/>
              </a:rPr>
              <a:t>Preview Results — click through records to verify personalization is correct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5559552"/>
            <a:ext cx="310896" cy="329184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11480" y="5577840"/>
            <a:ext cx="310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577840"/>
            <a:ext cx="6035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75569"/>
                </a:solidFill>
                <a:latin typeface="Calibri"/>
              </a:rPr>
              <a:t>Finish &amp; Merge → Print All Documents or Send Email Messages in bulk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980176"/>
            <a:ext cx="310896" cy="32918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11480" y="5998464"/>
            <a:ext cx="310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5998464"/>
            <a:ext cx="6035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75569"/>
                </a:solidFill>
                <a:latin typeface="Calibri"/>
              </a:rPr>
              <a:t>Edit Individual Letters → output to new document for final review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50608" y="3474720"/>
            <a:ext cx="4718304" cy="29809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7150608" y="3474720"/>
            <a:ext cx="4718304" cy="31089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315200" y="3529584"/>
            <a:ext cx="4389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Document Automation Tools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242048" y="3877056"/>
            <a:ext cx="4535424" cy="365760"/>
          </a:xfrm>
          <a:prstGeom prst="rect">
            <a:avLst/>
          </a:prstGeom>
          <a:solidFill>
            <a:srgbClr val="F0F4F8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360920" y="3895344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A580C"/>
                </a:solidFill>
                <a:latin typeface="Calibri"/>
              </a:rPr>
              <a:t>Macros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23960" y="3895344"/>
            <a:ext cx="2926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75569"/>
                </a:solidFill>
                <a:latin typeface="Calibri"/>
              </a:rPr>
              <a:t>Record repetitive actions. Tools → Macros → Record. Replay with one click.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242048" y="4297680"/>
            <a:ext cx="4535424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360920" y="4315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A580C"/>
                </a:solidFill>
                <a:latin typeface="Calibri"/>
              </a:rPr>
              <a:t>AutoText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23960" y="4315968"/>
            <a:ext cx="2926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75569"/>
                </a:solidFill>
                <a:latin typeface="Calibri"/>
              </a:rPr>
              <a:t>Store frequently-used text blocks. Insert → Quick Parts → AutoText.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242048" y="4718304"/>
            <a:ext cx="4535424" cy="365760"/>
          </a:xfrm>
          <a:prstGeom prst="rect">
            <a:avLst/>
          </a:prstGeom>
          <a:solidFill>
            <a:srgbClr val="F0F4F8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360920" y="4736592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A580C"/>
                </a:solidFill>
                <a:latin typeface="Calibri"/>
              </a:rPr>
              <a:t>Building Blocks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823960" y="4736592"/>
            <a:ext cx="2926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75569"/>
                </a:solidFill>
                <a:latin typeface="Calibri"/>
              </a:rPr>
              <a:t>Reusable headers, footers, cover pages. Insert → Quick Parts.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242048" y="5138928"/>
            <a:ext cx="4535424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360920" y="5157216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A580C"/>
                </a:solidFill>
                <a:latin typeface="Calibri"/>
              </a:rPr>
              <a:t>Form Fields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823960" y="5157216"/>
            <a:ext cx="2926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75569"/>
                </a:solidFill>
                <a:latin typeface="Calibri"/>
              </a:rPr>
              <a:t>Insert fill-in fields for structured data entry. Developer Tab.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242048" y="5559552"/>
            <a:ext cx="4535424" cy="365760"/>
          </a:xfrm>
          <a:prstGeom prst="rect">
            <a:avLst/>
          </a:prstGeom>
          <a:solidFill>
            <a:srgbClr val="F0F4F8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7360920" y="5577840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A580C"/>
                </a:solidFill>
                <a:latin typeface="Calibri"/>
              </a:rPr>
              <a:t>Linked Fields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823960" y="5577840"/>
            <a:ext cx="2926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75569"/>
                </a:solidFill>
                <a:latin typeface="Calibri"/>
              </a:rPr>
              <a:t>DATE, TIME, FILENAME auto-update fields. Insert → Field.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242048" y="5980176"/>
            <a:ext cx="4535424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7360920" y="5998464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A580C"/>
                </a:solidFill>
                <a:latin typeface="Calibri"/>
              </a:rPr>
              <a:t>Compare Docs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823960" y="5998464"/>
            <a:ext cx="2926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75569"/>
                </a:solidFill>
                <a:latin typeface="Calibri"/>
              </a:rPr>
              <a:t>Review → Compare — see differences between two document versions.</a:t>
            </a:r>
          </a:p>
        </p:txBody>
      </p:sp>
      <p:pic>
        <p:nvPicPr>
          <p:cNvPr id="59" name="Picture 58" descr="A close-up of a diagram&#10;&#10;Description automatically generated">
            <a:extLst>
              <a:ext uri="{FF2B5EF4-FFF2-40B4-BE49-F238E27FC236}">
                <a16:creationId xmlns:a16="http://schemas.microsoft.com/office/drawing/2014/main" id="{05794339-D4A8-5C78-8CAC-8EE2634E30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61620" y="1069848"/>
            <a:ext cx="11965940" cy="2382504"/>
          </a:xfrm>
          <a:prstGeom prst="rect">
            <a:avLst/>
          </a:prstGeom>
        </p:spPr>
      </p:pic>
    </p:spTree>
  </p:cSld>
  <p:clrMapOvr>
    <a:masterClrMapping/>
  </p:clrMapOvr>
  <p:transition spd="med">
    <p:push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" cy="9692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969264"/>
            <a:ext cx="12188952" cy="45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28600" y="128016"/>
            <a:ext cx="548640" cy="29260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28600" y="128016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91440"/>
            <a:ext cx="10972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0F172A"/>
                </a:solidFill>
                <a:latin typeface="Calibri"/>
              </a:rPr>
              <a:t>Collaboration Tools in Word Processors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4864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75569"/>
                </a:solidFill>
                <a:latin typeface="Calibri"/>
              </a:rPr>
              <a:t>Track Changes  ·  Comments  ·  Co-Authoring  ·  Share  ·  Version History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0" y="6565392"/>
            <a:ext cx="1218895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74320" y="6620256"/>
            <a:ext cx="9144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4A3B8"/>
                </a:solidFill>
                <a:latin typeface="Calibri"/>
              </a:rPr>
              <a:t>Word Processing Software  ·  Comprehensive Presentation — All 15 Topics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20840" y="1078992"/>
            <a:ext cx="5148072" cy="281635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720840" y="1078992"/>
            <a:ext cx="5148072" cy="31089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76288" y="1133856"/>
            <a:ext cx="4846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How to Collaborate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12280" y="1481328"/>
            <a:ext cx="4965192" cy="347472"/>
          </a:xfrm>
          <a:prstGeom prst="rect">
            <a:avLst/>
          </a:prstGeom>
          <a:solidFill>
            <a:srgbClr val="F0F4F8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931152" y="1499616"/>
            <a:ext cx="1463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59669"/>
                </a:solidFill>
                <a:latin typeface="Calibri"/>
              </a:rPr>
              <a:t>Share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85632" y="1499616"/>
            <a:ext cx="3291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75569"/>
                </a:solidFill>
                <a:latin typeface="Calibri"/>
              </a:rPr>
              <a:t>File → Share → Share with People → enter email, set Edit/View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12280" y="1883664"/>
            <a:ext cx="4965192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931152" y="1901952"/>
            <a:ext cx="1463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59669"/>
                </a:solidFill>
                <a:latin typeface="Calibri"/>
              </a:rPr>
              <a:t>Co-Author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85632" y="1901952"/>
            <a:ext cx="3291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75569"/>
                </a:solidFill>
                <a:latin typeface="Calibri"/>
              </a:rPr>
              <a:t>Multiple users type simultaneously — changes appear in real time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12280" y="2286000"/>
            <a:ext cx="4965192" cy="347472"/>
          </a:xfrm>
          <a:prstGeom prst="rect">
            <a:avLst/>
          </a:prstGeom>
          <a:solidFill>
            <a:srgbClr val="F0F4F8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931152" y="2304288"/>
            <a:ext cx="1463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59669"/>
                </a:solidFill>
                <a:latin typeface="Calibri"/>
              </a:rPr>
              <a:t>Track Changes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85632" y="2304288"/>
            <a:ext cx="3291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75569"/>
                </a:solidFill>
                <a:latin typeface="Calibri"/>
              </a:rPr>
              <a:t>Review → Track Changes → all edits shown with author name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12280" y="2688336"/>
            <a:ext cx="4965192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931152" y="2706624"/>
            <a:ext cx="1463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59669"/>
                </a:solidFill>
                <a:latin typeface="Calibri"/>
              </a:rPr>
              <a:t>Accept/Reject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85632" y="2706624"/>
            <a:ext cx="3291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75569"/>
                </a:solidFill>
                <a:latin typeface="Calibri"/>
              </a:rPr>
              <a:t>Review → Accept All or Reject All tracked changes in document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12280" y="3090672"/>
            <a:ext cx="4965192" cy="347472"/>
          </a:xfrm>
          <a:prstGeom prst="rect">
            <a:avLst/>
          </a:prstGeom>
          <a:solidFill>
            <a:srgbClr val="F0F4F8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931152" y="3108960"/>
            <a:ext cx="1463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59669"/>
                </a:solidFill>
                <a:latin typeface="Calibri"/>
              </a:rPr>
              <a:t>Comments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85632" y="3108960"/>
            <a:ext cx="3291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75569"/>
                </a:solidFill>
                <a:latin typeface="Calibri"/>
              </a:rPr>
              <a:t>Select text → Insert → Comment → add note, reply, or @mention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12280" y="3493008"/>
            <a:ext cx="4965192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931152" y="3511296"/>
            <a:ext cx="1463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59669"/>
                </a:solidFill>
                <a:latin typeface="Calibri"/>
              </a:rPr>
              <a:t>Version History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85632" y="3511296"/>
            <a:ext cx="3291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75569"/>
                </a:solidFill>
                <a:latin typeface="Calibri"/>
              </a:rPr>
              <a:t>File → Info → Version History — restore any previous saved version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" y="3986784"/>
            <a:ext cx="11521440" cy="248716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320040" y="3986784"/>
            <a:ext cx="11521440" cy="31089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02920" y="4041648"/>
            <a:ext cx="6400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Collaboration Platforms &amp; Tools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84048" y="4389120"/>
            <a:ext cx="5577840" cy="566928"/>
          </a:xfrm>
          <a:prstGeom prst="rect">
            <a:avLst/>
          </a:prstGeom>
          <a:solidFill>
            <a:srgbClr val="F0F4F8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93776" y="4462272"/>
            <a:ext cx="1828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C3AED"/>
                </a:solidFill>
                <a:latin typeface="Calibri"/>
              </a:rPr>
              <a:t>Microsoft Word Online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14016" y="4462272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Browser-based Word, real-time co-editing, free with Microsoft account.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26480" y="4389120"/>
            <a:ext cx="55778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236208" y="4462272"/>
            <a:ext cx="1828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C3AED"/>
                </a:solidFill>
                <a:latin typeface="Calibri"/>
              </a:rPr>
              <a:t>Google Docs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56448" y="4462272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Free cloud editor, excellent real-time collaboration, comment threads.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84048" y="5084064"/>
            <a:ext cx="5577840" cy="566928"/>
          </a:xfrm>
          <a:prstGeom prst="rect">
            <a:avLst/>
          </a:prstGeom>
          <a:solidFill>
            <a:srgbClr val="F0F4F8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93776" y="5157216"/>
            <a:ext cx="1828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C3AED"/>
                </a:solidFill>
                <a:latin typeface="Calibri"/>
              </a:rPr>
              <a:t>OneDrive Sharing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14016" y="5157216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Share Word files with view/edit/comment-only permissions via link.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26480" y="5084064"/>
            <a:ext cx="55778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236208" y="5157216"/>
            <a:ext cx="1828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C3AED"/>
                </a:solidFill>
                <a:latin typeface="Calibri"/>
              </a:rPr>
              <a:t>SharePoint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56448" y="5157216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Enterprise document management with version control and approval.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84048" y="5779008"/>
            <a:ext cx="5577840" cy="566928"/>
          </a:xfrm>
          <a:prstGeom prst="rect">
            <a:avLst/>
          </a:prstGeom>
          <a:solidFill>
            <a:srgbClr val="F0F4F8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493776" y="5852160"/>
            <a:ext cx="1828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C3AED"/>
                </a:solidFill>
                <a:latin typeface="Calibri"/>
              </a:rPr>
              <a:t>Track Changes Workflow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14016" y="5852160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Author writes → Reviewer tracks → Author accepts/rejects → Final doc.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126480" y="5779008"/>
            <a:ext cx="55778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6236208" y="5852160"/>
            <a:ext cx="1828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C3AED"/>
                </a:solidFill>
                <a:latin typeface="Calibri"/>
              </a:rPr>
              <a:t>Protected Sharing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56448" y="5852160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Review → Restrict Editing — allow comments-only or no changes at all.</a:t>
            </a:r>
          </a:p>
        </p:txBody>
      </p:sp>
      <p:pic>
        <p:nvPicPr>
          <p:cNvPr id="56" name="Picture 55">
            <a:extLst>
              <a:ext uri="{FF2B5EF4-FFF2-40B4-BE49-F238E27FC236}">
                <a16:creationId xmlns:a16="http://schemas.microsoft.com/office/drawing/2014/main" id="{93115D9D-F684-3D2B-2252-916E7F39DF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913" y="1133856"/>
            <a:ext cx="6090184" cy="2761488"/>
          </a:xfrm>
          <a:prstGeom prst="rect">
            <a:avLst/>
          </a:prstGeom>
        </p:spPr>
      </p:pic>
    </p:spTree>
  </p:cSld>
  <p:clrMapOvr>
    <a:masterClrMapping/>
  </p:clrMapOvr>
  <p:transition spd="med">
    <p:push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" cy="9692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969264"/>
            <a:ext cx="12188952" cy="45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28600" y="128016"/>
            <a:ext cx="548640" cy="29260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28600" y="128016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91440"/>
            <a:ext cx="10972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0F172A"/>
                </a:solidFill>
                <a:latin typeface="Calibri"/>
              </a:rPr>
              <a:t>File Management, Saving, Exporting &amp; Printing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4864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75569"/>
                </a:solidFill>
                <a:latin typeface="Calibri"/>
              </a:rPr>
              <a:t>Save Formats  ·  Cloud Storage  ·  Export  ·  Print Settings  ·  Distribution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0" y="6565392"/>
            <a:ext cx="1218895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74320" y="6620256"/>
            <a:ext cx="9144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4A3B8"/>
                </a:solidFill>
                <a:latin typeface="Calibri"/>
              </a:rPr>
              <a:t>Word Processing Software  ·  Comprehensive Presentation — All 15 Topics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6615" y="1115568"/>
            <a:ext cx="2432304" cy="1078992"/>
          </a:xfrm>
          <a:prstGeom prst="rect">
            <a:avLst/>
          </a:prstGeom>
          <a:solidFill>
            <a:srgbClr val="C0C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20040" y="1078992"/>
            <a:ext cx="2432304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20040" y="1078992"/>
            <a:ext cx="2432304" cy="32918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29768" y="1143000"/>
            <a:ext cx="223113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.docx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" y="1517904"/>
            <a:ext cx="223113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75569"/>
                </a:solidFill>
                <a:latin typeface="Calibri"/>
              </a:rPr>
              <a:t>Default Word format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35224" y="1115568"/>
            <a:ext cx="2432304" cy="1078992"/>
          </a:xfrm>
          <a:prstGeom prst="rect">
            <a:avLst/>
          </a:prstGeom>
          <a:solidFill>
            <a:srgbClr val="C0C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2898648" y="1078992"/>
            <a:ext cx="2432304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2898648" y="1078992"/>
            <a:ext cx="2432304" cy="329184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008376" y="1143000"/>
            <a:ext cx="223113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.pdf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08376" y="1517904"/>
            <a:ext cx="223113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75569"/>
                </a:solidFill>
                <a:latin typeface="Calibri"/>
              </a:rPr>
              <a:t>Final sharing format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513831" y="1115568"/>
            <a:ext cx="2432304" cy="1078992"/>
          </a:xfrm>
          <a:prstGeom prst="rect">
            <a:avLst/>
          </a:prstGeom>
          <a:solidFill>
            <a:srgbClr val="C0C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477255" y="1078992"/>
            <a:ext cx="2432304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5477255" y="1078992"/>
            <a:ext cx="2432304" cy="32918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586983" y="1143000"/>
            <a:ext cx="223113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.odt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86983" y="1517904"/>
            <a:ext cx="223113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75569"/>
                </a:solidFill>
                <a:latin typeface="Calibri"/>
              </a:rPr>
              <a:t>Open-source format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56615" y="2322576"/>
            <a:ext cx="2432304" cy="1078992"/>
          </a:xfrm>
          <a:prstGeom prst="rect">
            <a:avLst/>
          </a:prstGeom>
          <a:solidFill>
            <a:srgbClr val="C0C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320040" y="2286000"/>
            <a:ext cx="2432304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320040" y="2286000"/>
            <a:ext cx="2432304" cy="329184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29768" y="2350008"/>
            <a:ext cx="223113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.txt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" y="2724912"/>
            <a:ext cx="223113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75569"/>
                </a:solidFill>
                <a:latin typeface="Calibri"/>
              </a:rPr>
              <a:t>Plain text only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35224" y="2322576"/>
            <a:ext cx="2432304" cy="1078992"/>
          </a:xfrm>
          <a:prstGeom prst="rect">
            <a:avLst/>
          </a:prstGeom>
          <a:solidFill>
            <a:srgbClr val="C0C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2898648" y="2286000"/>
            <a:ext cx="2432304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2898648" y="2286000"/>
            <a:ext cx="2432304" cy="329184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008376" y="2350008"/>
            <a:ext cx="223113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.html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008376" y="2724912"/>
            <a:ext cx="223113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75569"/>
                </a:solidFill>
                <a:latin typeface="Calibri"/>
              </a:rPr>
              <a:t>Web page format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13831" y="2322576"/>
            <a:ext cx="2432304" cy="1078992"/>
          </a:xfrm>
          <a:prstGeom prst="rect">
            <a:avLst/>
          </a:prstGeom>
          <a:solidFill>
            <a:srgbClr val="C0C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5477255" y="2286000"/>
            <a:ext cx="2432304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5477255" y="2286000"/>
            <a:ext cx="2432304" cy="32918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586983" y="2350008"/>
            <a:ext cx="223113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.dotx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86983" y="2724912"/>
            <a:ext cx="223113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75569"/>
                </a:solidFill>
                <a:latin typeface="Calibri"/>
              </a:rPr>
              <a:t>Word template format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183879" y="1078992"/>
            <a:ext cx="3675887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8183879" y="1078992"/>
            <a:ext cx="3675887" cy="3108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339327" y="1133856"/>
            <a:ext cx="3383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Saving Options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275320" y="1481328"/>
            <a:ext cx="3493008" cy="292608"/>
          </a:xfrm>
          <a:prstGeom prst="rect">
            <a:avLst/>
          </a:prstGeom>
          <a:solidFill>
            <a:srgbClr val="F0F4F8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8275320" y="1481328"/>
            <a:ext cx="749808" cy="29260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8293608" y="1499616"/>
            <a:ext cx="7132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Ctrl+S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098280" y="1499616"/>
            <a:ext cx="2560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Save current file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275320" y="1828800"/>
            <a:ext cx="3493008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8275320" y="1828800"/>
            <a:ext cx="749808" cy="29260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8293608" y="1847088"/>
            <a:ext cx="7132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F12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98280" y="1847088"/>
            <a:ext cx="2560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Save As new name/path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275320" y="2176272"/>
            <a:ext cx="3493008" cy="292608"/>
          </a:xfrm>
          <a:prstGeom prst="rect">
            <a:avLst/>
          </a:prstGeom>
          <a:solidFill>
            <a:srgbClr val="F0F4F8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8275320" y="2176272"/>
            <a:ext cx="749808" cy="292608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8293608" y="2194560"/>
            <a:ext cx="7132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AutoSave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098280" y="2194560"/>
            <a:ext cx="2560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OneDrive live auto-save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275320" y="2523744"/>
            <a:ext cx="3493008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8275320" y="2523744"/>
            <a:ext cx="749808" cy="29260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8293608" y="2542032"/>
            <a:ext cx="7132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AutoRecover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098280" y="2542032"/>
            <a:ext cx="2560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Crash recovery every 5 min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275320" y="2871215"/>
            <a:ext cx="3493008" cy="292608"/>
          </a:xfrm>
          <a:prstGeom prst="rect">
            <a:avLst/>
          </a:prstGeom>
          <a:solidFill>
            <a:srgbClr val="F0F4F8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8275320" y="2871215"/>
            <a:ext cx="749808" cy="29260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8293608" y="2889504"/>
            <a:ext cx="7132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Export PDF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2889504"/>
            <a:ext cx="2560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File → Export → Create PDF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275320" y="3218687"/>
            <a:ext cx="3493008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ectangle 66"/>
          <p:cNvSpPr/>
          <p:nvPr/>
        </p:nvSpPr>
        <p:spPr>
          <a:xfrm>
            <a:off x="8275320" y="3218687"/>
            <a:ext cx="749808" cy="29260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8293608" y="3236976"/>
            <a:ext cx="7132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File → Share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098280" y="3236976"/>
            <a:ext cx="2560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Email or cloud sharing link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20040" y="3566160"/>
            <a:ext cx="11521440" cy="288950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ectangle 70"/>
          <p:cNvSpPr/>
          <p:nvPr/>
        </p:nvSpPr>
        <p:spPr>
          <a:xfrm>
            <a:off x="320040" y="3566160"/>
            <a:ext cx="11521440" cy="31089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502920" y="3621024"/>
            <a:ext cx="6400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Printing &amp; Document Distribution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84048" y="3968496"/>
            <a:ext cx="5577840" cy="566928"/>
          </a:xfrm>
          <a:prstGeom prst="rect">
            <a:avLst/>
          </a:prstGeom>
          <a:solidFill>
            <a:srgbClr val="F0F4F8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Rectangle 73"/>
          <p:cNvSpPr/>
          <p:nvPr/>
        </p:nvSpPr>
        <p:spPr>
          <a:xfrm>
            <a:off x="384048" y="3968496"/>
            <a:ext cx="73152" cy="56692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566928" y="4041648"/>
            <a:ext cx="16916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C2626"/>
                </a:solidFill>
                <a:latin typeface="Calibri"/>
              </a:rPr>
              <a:t>Print Preview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377440" y="4041648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Ctrl+P → shows exact print layout. Check margins and page breaks before printing.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26480" y="3968496"/>
            <a:ext cx="55778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Rectangle 77"/>
          <p:cNvSpPr/>
          <p:nvPr/>
        </p:nvSpPr>
        <p:spPr>
          <a:xfrm>
            <a:off x="6126480" y="3968496"/>
            <a:ext cx="73152" cy="5669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6309360" y="4041648"/>
            <a:ext cx="16916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D4ED8"/>
                </a:solidFill>
                <a:latin typeface="Calibri"/>
              </a:rPr>
              <a:t>Print Settings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119872" y="4041648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Select printer, page range, copies, orientation, paper size, duplex printing.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84048" y="4626864"/>
            <a:ext cx="5577840" cy="566928"/>
          </a:xfrm>
          <a:prstGeom prst="rect">
            <a:avLst/>
          </a:prstGeom>
          <a:solidFill>
            <a:srgbClr val="F0F4F8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Rectangle 81"/>
          <p:cNvSpPr/>
          <p:nvPr/>
        </p:nvSpPr>
        <p:spPr>
          <a:xfrm>
            <a:off x="384048" y="4626864"/>
            <a:ext cx="73152" cy="5669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566928" y="4700016"/>
            <a:ext cx="16916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C3AED"/>
                </a:solidFill>
                <a:latin typeface="Calibri"/>
              </a:rPr>
              <a:t>Print to PDF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377440" y="4700016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Use Microsoft Print to PDF printer to create PDF without saving as PDF.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126480" y="4626864"/>
            <a:ext cx="55778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Rectangle 85"/>
          <p:cNvSpPr/>
          <p:nvPr/>
        </p:nvSpPr>
        <p:spPr>
          <a:xfrm>
            <a:off x="6126480" y="4626864"/>
            <a:ext cx="73152" cy="566928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6309360" y="4700016"/>
            <a:ext cx="16916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891B2"/>
                </a:solidFill>
                <a:latin typeface="Calibri"/>
              </a:rPr>
              <a:t>Scale to Fit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119872" y="4700016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Printing → Scale — shrink or enlarge document to fit specific paper size.</a:t>
            </a:r>
          </a:p>
        </p:txBody>
      </p:sp>
      <p:sp>
        <p:nvSpPr>
          <p:cNvPr id="89" name="Rectangle 88"/>
          <p:cNvSpPr/>
          <p:nvPr/>
        </p:nvSpPr>
        <p:spPr>
          <a:xfrm>
            <a:off x="384048" y="5285231"/>
            <a:ext cx="5577840" cy="566928"/>
          </a:xfrm>
          <a:prstGeom prst="rect">
            <a:avLst/>
          </a:prstGeom>
          <a:solidFill>
            <a:srgbClr val="F0F4F8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Rectangle 89"/>
          <p:cNvSpPr/>
          <p:nvPr/>
        </p:nvSpPr>
        <p:spPr>
          <a:xfrm>
            <a:off x="384048" y="5285231"/>
            <a:ext cx="73152" cy="56692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566928" y="5358383"/>
            <a:ext cx="16916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A580C"/>
                </a:solidFill>
                <a:latin typeface="Calibri"/>
              </a:rPr>
              <a:t>Email Document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377440" y="5358383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File → Share → Email → Send as Attachment (.docx) or Send as PDF.</a:t>
            </a:r>
          </a:p>
        </p:txBody>
      </p:sp>
      <p:sp>
        <p:nvSpPr>
          <p:cNvPr id="93" name="Rectangle 92"/>
          <p:cNvSpPr/>
          <p:nvPr/>
        </p:nvSpPr>
        <p:spPr>
          <a:xfrm>
            <a:off x="6126480" y="5285231"/>
            <a:ext cx="55778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Rectangle 93"/>
          <p:cNvSpPr/>
          <p:nvPr/>
        </p:nvSpPr>
        <p:spPr>
          <a:xfrm>
            <a:off x="6126480" y="5285231"/>
            <a:ext cx="73152" cy="56692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6309360" y="5358383"/>
            <a:ext cx="16916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59669"/>
                </a:solidFill>
                <a:latin typeface="Calibri"/>
              </a:rPr>
              <a:t>Distribute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119872" y="5358383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Share via OneDrive link, USB drive, SharePoint, or print and hand-deliver.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" cy="9692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969264"/>
            <a:ext cx="12188952" cy="45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28600" y="128016"/>
            <a:ext cx="548640" cy="29260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28600" y="128016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91440"/>
            <a:ext cx="10972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0F172A"/>
                </a:solidFill>
                <a:latin typeface="Calibri"/>
              </a:rPr>
              <a:t>Advantages &amp; Real-World Applications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4864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75569"/>
                </a:solidFill>
                <a:latin typeface="Calibri"/>
              </a:rPr>
              <a:t>Key Benefits  ·  Academic  ·  Business  ·  Professional  ·  Conclusion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0" y="6565392"/>
            <a:ext cx="1218895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74320" y="6620256"/>
            <a:ext cx="9144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4A3B8"/>
                </a:solidFill>
                <a:latin typeface="Calibri"/>
              </a:rPr>
              <a:t>Word Processing Software  ·  Comprehensive Presentation — All 15 Topics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6615" y="1115568"/>
            <a:ext cx="2432304" cy="1078992"/>
          </a:xfrm>
          <a:prstGeom prst="rect">
            <a:avLst/>
          </a:prstGeom>
          <a:solidFill>
            <a:srgbClr val="C0C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20040" y="1078992"/>
            <a:ext cx="2432304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20040" y="1078992"/>
            <a:ext cx="2432304" cy="31089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11479" y="1133856"/>
            <a:ext cx="224942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 dirty="0">
                <a:solidFill>
                  <a:srgbClr val="FFFFFF"/>
                </a:solidFill>
                <a:latin typeface="Calibri"/>
              </a:rPr>
              <a:t>Speed &amp; Efficiency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79" y="1463039"/>
            <a:ext cx="224942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475569"/>
                </a:solidFill>
                <a:latin typeface="Calibri"/>
              </a:rPr>
              <a:t>Create docs 10× faster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35224" y="1115568"/>
            <a:ext cx="2432304" cy="1078992"/>
          </a:xfrm>
          <a:prstGeom prst="rect">
            <a:avLst/>
          </a:prstGeom>
          <a:solidFill>
            <a:srgbClr val="C0C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2898648" y="1078992"/>
            <a:ext cx="2432304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2898648" y="1078992"/>
            <a:ext cx="2432304" cy="31089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990088" y="1133856"/>
            <a:ext cx="224942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Error Correction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90088" y="1463039"/>
            <a:ext cx="224942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475569"/>
                </a:solidFill>
                <a:latin typeface="Calibri"/>
              </a:rPr>
              <a:t>Auto spell &amp; grammar check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513831" y="1115568"/>
            <a:ext cx="2432304" cy="1078992"/>
          </a:xfrm>
          <a:prstGeom prst="rect">
            <a:avLst/>
          </a:prstGeom>
          <a:solidFill>
            <a:srgbClr val="C0C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477255" y="1078992"/>
            <a:ext cx="2432304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5477255" y="1078992"/>
            <a:ext cx="2432304" cy="31089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568695" y="1133856"/>
            <a:ext cx="224942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Easy Editing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68695" y="1463039"/>
            <a:ext cx="224942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475569"/>
                </a:solidFill>
                <a:latin typeface="Calibri"/>
              </a:rPr>
              <a:t>Cut, copy, paste, undo/redo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56615" y="2322576"/>
            <a:ext cx="2432304" cy="1078992"/>
          </a:xfrm>
          <a:prstGeom prst="rect">
            <a:avLst/>
          </a:prstGeom>
          <a:solidFill>
            <a:srgbClr val="C0C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320040" y="2286000"/>
            <a:ext cx="2432304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320040" y="2286000"/>
            <a:ext cx="2432304" cy="310896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11479" y="2340864"/>
            <a:ext cx="224942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Templates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79" y="2670048"/>
            <a:ext cx="224942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475569"/>
                </a:solidFill>
                <a:latin typeface="Calibri"/>
              </a:rPr>
              <a:t>Reuse professional layouts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35224" y="2322576"/>
            <a:ext cx="2432304" cy="1078992"/>
          </a:xfrm>
          <a:prstGeom prst="rect">
            <a:avLst/>
          </a:prstGeom>
          <a:solidFill>
            <a:srgbClr val="C0C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2898648" y="2286000"/>
            <a:ext cx="2432304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2898648" y="2286000"/>
            <a:ext cx="2432304" cy="31089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990088" y="2340864"/>
            <a:ext cx="224942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Collaboration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90088" y="2670048"/>
            <a:ext cx="224942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475569"/>
                </a:solidFill>
                <a:latin typeface="Calibri"/>
              </a:rPr>
              <a:t>Real-time co-authoring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13831" y="2322576"/>
            <a:ext cx="2432304" cy="1078992"/>
          </a:xfrm>
          <a:prstGeom prst="rect">
            <a:avLst/>
          </a:prstGeom>
          <a:solidFill>
            <a:srgbClr val="C0C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5477255" y="2286000"/>
            <a:ext cx="2432304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5477255" y="2286000"/>
            <a:ext cx="2432304" cy="31089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568695" y="2340864"/>
            <a:ext cx="224942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Cloud Access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68695" y="2670048"/>
            <a:ext cx="224942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475569"/>
                </a:solidFill>
                <a:latin typeface="Calibri"/>
              </a:rPr>
              <a:t>Any device, anywhere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56615" y="3529584"/>
            <a:ext cx="2432304" cy="1078992"/>
          </a:xfrm>
          <a:prstGeom prst="rect">
            <a:avLst/>
          </a:prstGeom>
          <a:solidFill>
            <a:srgbClr val="C0C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320040" y="3493008"/>
            <a:ext cx="2432304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320040" y="3493008"/>
            <a:ext cx="2432304" cy="31089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411479" y="3547872"/>
            <a:ext cx="224942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Mail Merge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1479" y="3877056"/>
            <a:ext cx="224942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475569"/>
                </a:solidFill>
                <a:latin typeface="Calibri"/>
              </a:rPr>
              <a:t>Bulk personalized documents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935224" y="3529584"/>
            <a:ext cx="2432304" cy="1078992"/>
          </a:xfrm>
          <a:prstGeom prst="rect">
            <a:avLst/>
          </a:prstGeom>
          <a:solidFill>
            <a:srgbClr val="C0C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2898648" y="3493008"/>
            <a:ext cx="2432304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2898648" y="3493008"/>
            <a:ext cx="2432304" cy="31089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2990088" y="3547872"/>
            <a:ext cx="224942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Professional Output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990088" y="3877056"/>
            <a:ext cx="224942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475569"/>
                </a:solidFill>
                <a:latin typeface="Calibri"/>
              </a:rPr>
              <a:t>Publication-quality design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513831" y="3529584"/>
            <a:ext cx="2432304" cy="1078992"/>
          </a:xfrm>
          <a:prstGeom prst="rect">
            <a:avLst/>
          </a:prstGeom>
          <a:solidFill>
            <a:srgbClr val="C0C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5477255" y="3493008"/>
            <a:ext cx="2432304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5477255" y="3493008"/>
            <a:ext cx="2432304" cy="31089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568695" y="3547872"/>
            <a:ext cx="224942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Cost Saving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68695" y="3877056"/>
            <a:ext cx="224942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475569"/>
                </a:solidFill>
                <a:latin typeface="Calibri"/>
              </a:rPr>
              <a:t>Reduces paper &amp; reprinting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183879" y="1078992"/>
            <a:ext cx="3675887" cy="5394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8183879" y="1078992"/>
            <a:ext cx="3675887" cy="31089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8339327" y="1133856"/>
            <a:ext cx="3383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Real-World Applications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275320" y="1481328"/>
            <a:ext cx="3493008" cy="420624"/>
          </a:xfrm>
          <a:prstGeom prst="rect">
            <a:avLst/>
          </a:prstGeom>
          <a:solidFill>
            <a:srgbClr val="F0F4F8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8394192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Calibri"/>
              </a:rPr>
              <a:t>Academic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91472" y="1499616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75569"/>
                </a:solidFill>
                <a:latin typeface="Calibri"/>
              </a:rPr>
              <a:t>Essays, theses, assignments, lab reports, study guides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275320" y="1984248"/>
            <a:ext cx="3493008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8394192" y="200253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Calibri"/>
              </a:rPr>
              <a:t>Business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491472" y="2002536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75569"/>
                </a:solidFill>
                <a:latin typeface="Calibri"/>
              </a:rPr>
              <a:t>Letters, proposals, contracts, invoices, reports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275320" y="2487168"/>
            <a:ext cx="3493008" cy="420624"/>
          </a:xfrm>
          <a:prstGeom prst="rect">
            <a:avLst/>
          </a:prstGeom>
          <a:solidFill>
            <a:srgbClr val="F0F4F8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8394192" y="250545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Calibri"/>
              </a:rPr>
              <a:t>Legal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491472" y="2505456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75569"/>
                </a:solidFill>
                <a:latin typeface="Calibri"/>
              </a:rPr>
              <a:t>Briefs, contracts, affidavits, case documents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275320" y="2990088"/>
            <a:ext cx="3493008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8394192" y="30083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Calibri"/>
              </a:rPr>
              <a:t>Medical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491472" y="3008376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75569"/>
                </a:solidFill>
                <a:latin typeface="Calibri"/>
              </a:rPr>
              <a:t>Patient records, prescriptions, clinical reports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275320" y="3493008"/>
            <a:ext cx="3493008" cy="420624"/>
          </a:xfrm>
          <a:prstGeom prst="rect">
            <a:avLst/>
          </a:prstGeom>
          <a:solidFill>
            <a:srgbClr val="F0F4F8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8394192" y="351129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Calibri"/>
              </a:rPr>
              <a:t>Education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91472" y="3511296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75569"/>
                </a:solidFill>
                <a:latin typeface="Calibri"/>
              </a:rPr>
              <a:t>Curriculum, lesson plans, exams, certificates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275320" y="3995928"/>
            <a:ext cx="3493008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8394192" y="4014215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Calibri"/>
              </a:rPr>
              <a:t>Technical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491472" y="4014215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75569"/>
                </a:solidFill>
                <a:latin typeface="Calibri"/>
              </a:rPr>
              <a:t>Manuals, SOPs, user guides, API documentation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275320" y="4498848"/>
            <a:ext cx="3493008" cy="420624"/>
          </a:xfrm>
          <a:prstGeom prst="rect">
            <a:avLst/>
          </a:prstGeom>
          <a:solidFill>
            <a:srgbClr val="F0F4F8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8394192" y="451713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Calibri"/>
              </a:rPr>
              <a:t>Publishing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91472" y="4517136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75569"/>
                </a:solidFill>
                <a:latin typeface="Calibri"/>
              </a:rPr>
              <a:t>Books, e-books, newsletters, magazines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275320" y="5001768"/>
            <a:ext cx="3493008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8394192" y="502005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Calibri"/>
              </a:rPr>
              <a:t>Government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491472" y="5020056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75569"/>
                </a:solidFill>
                <a:latin typeface="Calibri"/>
              </a:rPr>
              <a:t>Official letters, policies, public forms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275320" y="5504688"/>
            <a:ext cx="3493008" cy="420624"/>
          </a:xfrm>
          <a:prstGeom prst="rect">
            <a:avLst/>
          </a:prstGeom>
          <a:solidFill>
            <a:srgbClr val="F0F4F8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8394192" y="55229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Calibri"/>
              </a:rPr>
              <a:t>Personal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491472" y="5522976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75569"/>
                </a:solidFill>
                <a:latin typeface="Calibri"/>
              </a:rPr>
              <a:t>CVs, cover letters, personal statements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275320" y="6007608"/>
            <a:ext cx="3493008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8394192" y="602589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Calibri"/>
              </a:rPr>
              <a:t>Research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491472" y="6025896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75569"/>
                </a:solidFill>
                <a:latin typeface="Calibri"/>
              </a:rPr>
              <a:t>Papers, abstracts, literature reviews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320040" y="4700016"/>
            <a:ext cx="11521440" cy="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Rectangle 91"/>
          <p:cNvSpPr/>
          <p:nvPr/>
        </p:nvSpPr>
        <p:spPr>
          <a:xfrm>
            <a:off x="320040" y="5980176"/>
            <a:ext cx="11521440" cy="493776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502920" y="6016752"/>
            <a:ext cx="110642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0C4DE"/>
                </a:solidFill>
                <a:latin typeface="Calibri"/>
              </a:rPr>
              <a:t>Word processors are an indispensable tool in modern digital communication — mastering them is a core skill for every student and professional.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4434840" y="0"/>
            <a:ext cx="137160" cy="6858000"/>
          </a:xfrm>
          <a:prstGeom prst="rect">
            <a:avLst/>
          </a:prstGeom>
          <a:solidFill>
            <a:srgbClr val="A1C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4434840" cy="73152"/>
          </a:xfrm>
          <a:prstGeom prst="rect">
            <a:avLst/>
          </a:prstGeom>
          <a:solidFill>
            <a:srgbClr val="A1C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6784848"/>
            <a:ext cx="4434840" cy="73152"/>
          </a:xfrm>
          <a:prstGeom prst="rect">
            <a:avLst/>
          </a:prstGeom>
          <a:solidFill>
            <a:srgbClr val="A1C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2880" y="1005840"/>
            <a:ext cx="4069080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 dirty="0">
                <a:latin typeface="Calibri"/>
              </a:rPr>
              <a:t>CONCLUSION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74519"/>
            <a:ext cx="3520440" cy="45720"/>
          </a:xfrm>
          <a:prstGeom prst="rect">
            <a:avLst/>
          </a:prstGeom>
          <a:solidFill>
            <a:srgbClr val="A1C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82880" y="2011680"/>
            <a:ext cx="406908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 dirty="0">
                <a:latin typeface="Calibri"/>
              </a:rPr>
              <a:t>Word processors are an essential
tool for modern digital communication.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200400"/>
            <a:ext cx="3520440" cy="45720"/>
          </a:xfrm>
          <a:prstGeom prst="rect">
            <a:avLst/>
          </a:prstGeom>
          <a:solidFill>
            <a:srgbClr val="A1C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3429000"/>
            <a:ext cx="1078992" cy="658368"/>
          </a:xfrm>
          <a:prstGeom prst="rect">
            <a:avLst/>
          </a:prstGeom>
          <a:solidFill>
            <a:srgbClr val="A1CB46"/>
          </a:solidFill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3502152"/>
            <a:ext cx="1078992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i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/>
              </a:rPr>
              <a:t>15</a:t>
            </a:r>
            <a:endParaRPr sz="26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691640" y="3630168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latin typeface="Calibri"/>
              </a:rPr>
              <a:t>Topics Covered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306824"/>
            <a:ext cx="1078992" cy="658368"/>
          </a:xfrm>
          <a:prstGeom prst="rect">
            <a:avLst/>
          </a:prstGeom>
          <a:solidFill>
            <a:srgbClr val="A1CB46"/>
          </a:solidFill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2920" y="4379976"/>
            <a:ext cx="1078992" cy="492443"/>
          </a:xfrm>
          <a:prstGeom prst="rect">
            <a:avLst/>
          </a:prstGeom>
          <a:solidFill>
            <a:srgbClr val="A1CB46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sz="2600" i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/>
              </a:rPr>
              <a:t>15</a:t>
            </a:r>
            <a:endParaRPr sz="26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691640" y="450799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latin typeface="Calibri"/>
              </a:rPr>
              <a:t>Slides Presented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256032"/>
            <a:ext cx="70408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F172A"/>
                </a:solidFill>
                <a:latin typeface="Calibri"/>
              </a:rPr>
              <a:t>Key Takeaways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00600" y="713232"/>
            <a:ext cx="7223760" cy="36576"/>
          </a:xfrm>
          <a:prstGeom prst="rect">
            <a:avLst/>
          </a:prstGeom>
          <a:solidFill>
            <a:srgbClr val="A1C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837176" y="877824"/>
            <a:ext cx="7178040" cy="768096"/>
          </a:xfrm>
          <a:prstGeom prst="rect">
            <a:avLst/>
          </a:prstGeom>
          <a:solidFill>
            <a:srgbClr val="C0C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800600" y="841248"/>
            <a:ext cx="717804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800600" y="841248"/>
            <a:ext cx="566928" cy="768096"/>
          </a:xfrm>
          <a:prstGeom prst="rect">
            <a:avLst/>
          </a:prstGeom>
          <a:solidFill>
            <a:srgbClr val="A1C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486400" y="969264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475569"/>
                </a:solidFill>
                <a:latin typeface="Calibri"/>
              </a:rPr>
              <a:t>Word processors revolutionized document creation with speed, accuracy and professional formatting.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37176" y="1755648"/>
            <a:ext cx="7178040" cy="768096"/>
          </a:xfrm>
          <a:prstGeom prst="rect">
            <a:avLst/>
          </a:prstGeom>
          <a:solidFill>
            <a:srgbClr val="C0C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800600" y="1719072"/>
            <a:ext cx="717804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4800600" y="1719072"/>
            <a:ext cx="566928" cy="768096"/>
          </a:xfrm>
          <a:prstGeom prst="rect">
            <a:avLst/>
          </a:prstGeom>
          <a:solidFill>
            <a:srgbClr val="A1C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486400" y="1847088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475569"/>
                </a:solidFill>
                <a:latin typeface="Calibri"/>
              </a:rPr>
              <a:t>Features like Track Changes and co-authoring enable seamless real-time team collaboration.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37176" y="2633472"/>
            <a:ext cx="7178040" cy="768096"/>
          </a:xfrm>
          <a:prstGeom prst="rect">
            <a:avLst/>
          </a:prstGeom>
          <a:solidFill>
            <a:srgbClr val="C0C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4800600" y="2596896"/>
            <a:ext cx="717804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4800600" y="2596896"/>
            <a:ext cx="566928" cy="768096"/>
          </a:xfrm>
          <a:prstGeom prst="rect">
            <a:avLst/>
          </a:prstGeom>
          <a:solidFill>
            <a:srgbClr val="A1C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486400" y="2724912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475569"/>
                </a:solidFill>
                <a:latin typeface="Calibri"/>
              </a:rPr>
              <a:t>Mail Merge and Macros automate repetitive tasks — generating hundreds of personalized documents.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37176" y="3511296"/>
            <a:ext cx="7178040" cy="768096"/>
          </a:xfrm>
          <a:prstGeom prst="rect">
            <a:avLst/>
          </a:prstGeom>
          <a:solidFill>
            <a:srgbClr val="C0C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4777740" y="3429294"/>
            <a:ext cx="717804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4800600" y="3429000"/>
            <a:ext cx="566928" cy="768096"/>
          </a:xfrm>
          <a:prstGeom prst="rect">
            <a:avLst/>
          </a:prstGeom>
          <a:solidFill>
            <a:srgbClr val="A1C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7" name="TextBox 36"/>
          <p:cNvSpPr txBox="1"/>
          <p:nvPr/>
        </p:nvSpPr>
        <p:spPr>
          <a:xfrm>
            <a:off x="5486400" y="3602736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475569"/>
                </a:solidFill>
                <a:latin typeface="Calibri"/>
              </a:rPr>
              <a:t>Cloud integration via OneDrive ensures documents are always accessible from any device.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837176" y="4389120"/>
            <a:ext cx="7178040" cy="768096"/>
          </a:xfrm>
          <a:prstGeom prst="rect">
            <a:avLst/>
          </a:prstGeom>
          <a:solidFill>
            <a:srgbClr val="C0C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4800600" y="4352544"/>
            <a:ext cx="717804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4800600" y="4352544"/>
            <a:ext cx="566928" cy="768096"/>
          </a:xfrm>
          <a:prstGeom prst="rect">
            <a:avLst/>
          </a:prstGeom>
          <a:solidFill>
            <a:srgbClr val="A1C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486400" y="4480559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475569"/>
                </a:solidFill>
                <a:latin typeface="Calibri"/>
              </a:rPr>
              <a:t>From academic essays to legal briefs, word processors serve every profession effectively.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837176" y="5266944"/>
            <a:ext cx="7178040" cy="768096"/>
          </a:xfrm>
          <a:prstGeom prst="rect">
            <a:avLst/>
          </a:prstGeom>
          <a:solidFill>
            <a:srgbClr val="C0C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4800600" y="5230368"/>
            <a:ext cx="717804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4800600" y="5230368"/>
            <a:ext cx="566928" cy="768096"/>
          </a:xfrm>
          <a:prstGeom prst="rect">
            <a:avLst/>
          </a:prstGeom>
          <a:solidFill>
            <a:srgbClr val="A1C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5486400" y="5358383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475569"/>
                </a:solidFill>
                <a:latin typeface="Calibri"/>
              </a:rPr>
              <a:t>Mastering word processor tools is a fundamental digital literacy skill in today's workplace.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800600" y="6327648"/>
            <a:ext cx="7178040" cy="329184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956048" y="6382512"/>
            <a:ext cx="6858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 dirty="0">
                <a:solidFill>
                  <a:srgbClr val="FFFFFF"/>
                </a:solidFill>
                <a:latin typeface="Calibri"/>
              </a:rPr>
              <a:t>Thank You for Your Attention!  ·  Questions Welcome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</TotalTime>
  <Words>2609</Words>
  <Application>Microsoft Office PowerPoint</Application>
  <PresentationFormat>Custom</PresentationFormat>
  <Paragraphs>444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Arial</vt:lpstr>
      <vt:lpstr>Calibri</vt:lpstr>
      <vt:lpstr>inherit</vt:lpstr>
      <vt:lpstr>Trebuchet MS</vt:lpstr>
      <vt:lpstr>Wingdings 3</vt:lpstr>
      <vt:lpstr>Facet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Shahrear Emon</cp:lastModifiedBy>
  <cp:revision>3</cp:revision>
  <dcterms:created xsi:type="dcterms:W3CDTF">2013-01-27T09:14:16Z</dcterms:created>
  <dcterms:modified xsi:type="dcterms:W3CDTF">2026-03-10T18:58:53Z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2026-03-10T17:53:10Z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1612a2f4-0822-498b-adfc-66e4fc38bbca</vt:lpwstr>
  </property>
  <property fmtid="{D5CDD505-2E9C-101B-9397-08002B2CF9AE}" pid="7" name="MSIP_Label_defa4170-0d19-0005-0004-bc88714345d2_ActionId">
    <vt:lpwstr>5e2890a6-af70-473a-93b1-e006795b3cf1</vt:lpwstr>
  </property>
  <property fmtid="{D5CDD505-2E9C-101B-9397-08002B2CF9AE}" pid="8" name="MSIP_Label_defa4170-0d19-0005-0004-bc88714345d2_ContentBits">
    <vt:lpwstr>0</vt:lpwstr>
  </property>
</Properties>
</file>