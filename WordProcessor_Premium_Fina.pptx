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69F07-5152-4BEA-B45F-BBE80B572434}" v="83" dt="2026-03-13T19:33:4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rear Emon" userId="1f2fa032-2ef1-42fb-aad1-025bba71bbfa" providerId="ADAL" clId="{50F69F07-5152-4BEA-B45F-BBE80B572434}"/>
    <pc:docChg chg="undo custSel modSld">
      <pc:chgData name="Shahrear Emon" userId="1f2fa032-2ef1-42fb-aad1-025bba71bbfa" providerId="ADAL" clId="{50F69F07-5152-4BEA-B45F-BBE80B572434}" dt="2026-03-13T19:33:47.274" v="84" actId="14100"/>
      <pc:docMkLst>
        <pc:docMk/>
      </pc:docMkLst>
      <pc:sldChg chg="modTransition modAnim">
        <pc:chgData name="Shahrear Emon" userId="1f2fa032-2ef1-42fb-aad1-025bba71bbfa" providerId="ADAL" clId="{50F69F07-5152-4BEA-B45F-BBE80B572434}" dt="2026-03-13T19:32:34.503" v="81"/>
        <pc:sldMkLst>
          <pc:docMk/>
          <pc:sldMk cId="0" sldId="256"/>
        </pc:sldMkLst>
      </pc:sldChg>
      <pc:sldChg chg="modSp mod modTransition">
        <pc:chgData name="Shahrear Emon" userId="1f2fa032-2ef1-42fb-aad1-025bba71bbfa" providerId="ADAL" clId="{50F69F07-5152-4BEA-B45F-BBE80B572434}" dt="2026-03-13T19:33:47.274" v="84" actId="14100"/>
        <pc:sldMkLst>
          <pc:docMk/>
          <pc:sldMk cId="0" sldId="257"/>
        </pc:sldMkLst>
        <pc:spChg chg="mod">
          <ac:chgData name="Shahrear Emon" userId="1f2fa032-2ef1-42fb-aad1-025bba71bbfa" providerId="ADAL" clId="{50F69F07-5152-4BEA-B45F-BBE80B572434}" dt="2026-03-13T19:33:47.274" v="84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Shahrear Emon" userId="1f2fa032-2ef1-42fb-aad1-025bba71bbfa" providerId="ADAL" clId="{50F69F07-5152-4BEA-B45F-BBE80B572434}" dt="2026-03-13T19:33:43.993" v="83" actId="404"/>
          <ac:spMkLst>
            <pc:docMk/>
            <pc:sldMk cId="0" sldId="257"/>
            <ac:spMk id="12" creationId="{00000000-0000-0000-0000-000000000000}"/>
          </ac:spMkLst>
        </pc:spChg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58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59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0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1"/>
        </pc:sldMkLst>
      </pc:sldChg>
      <pc:sldChg chg="modSp mod 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2"/>
        </pc:sldMkLst>
        <pc:spChg chg="mod">
          <ac:chgData name="Shahrear Emon" userId="1f2fa032-2ef1-42fb-aad1-025bba71bbfa" providerId="ADAL" clId="{50F69F07-5152-4BEA-B45F-BBE80B572434}" dt="2026-03-13T19:24:43.550" v="10" actId="12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hahrear Emon" userId="1f2fa032-2ef1-42fb-aad1-025bba71bbfa" providerId="ADAL" clId="{50F69F07-5152-4BEA-B45F-BBE80B572434}" dt="2026-03-13T19:24:35.248" v="6" actId="12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hahrear Emon" userId="1f2fa032-2ef1-42fb-aad1-025bba71bbfa" providerId="ADAL" clId="{50F69F07-5152-4BEA-B45F-BBE80B572434}" dt="2026-03-13T19:24:51.362" v="12" actId="12"/>
          <ac:spMkLst>
            <pc:docMk/>
            <pc:sldMk cId="0" sldId="262"/>
            <ac:spMk id="23" creationId="{00000000-0000-0000-0000-000000000000}"/>
          </ac:spMkLst>
        </pc:spChg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3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4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5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6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7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8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69"/>
        </pc:sldMkLst>
      </pc:sldChg>
      <pc:sldChg chg="modTransition">
        <pc:chgData name="Shahrear Emon" userId="1f2fa032-2ef1-42fb-aad1-025bba71bbfa" providerId="ADAL" clId="{50F69F07-5152-4BEA-B45F-BBE80B572434}" dt="2026-03-13T19:32:34.503" v="81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50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1.png"/><Relationship Id="rId5" Type="http://schemas.openxmlformats.org/officeDocument/2006/relationships/image" Target="../media/image12.png"/><Relationship Id="rId10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0.png"/><Relationship Id="rId5" Type="http://schemas.openxmlformats.org/officeDocument/2006/relationships/image" Target="../media/image22.png"/><Relationship Id="rId10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38912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457200"/>
            <a:ext cx="3749040" cy="749808"/>
          </a:xfrm>
          <a:prstGeom prst="rect">
            <a:avLst/>
          </a:prstGeom>
          <a:noFill/>
          <a:ln/>
          <a:effectLst>
            <a:outerShdw blurRad="203200" dist="50800" dir="81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WORD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365760" y="12252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7190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3127248"/>
            <a:ext cx="310896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</a:rPr>
              <a:t>A Comprehensive Presentation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Covering All 15 Topics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365760"/>
            <a:ext cx="4297680" cy="475488"/>
          </a:xfrm>
          <a:prstGeom prst="rect">
            <a:avLst/>
          </a:prstGeom>
          <a:solidFill>
            <a:srgbClr val="6A11CB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3657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GROUP NSDA WEB DEVELOPERS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08576" y="1033272"/>
            <a:ext cx="429768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0" y="987552"/>
            <a:ext cx="4297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0" y="987552"/>
            <a:ext cx="429768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8304" y="1078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Topic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18304" y="129844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Word Processing Software — All 15 Topics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08576" y="1819656"/>
            <a:ext cx="429768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0" y="1773936"/>
            <a:ext cx="4297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0" y="1773936"/>
            <a:ext cx="429768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18304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Team Name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208483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NSDA Web Developers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08576" y="2606040"/>
            <a:ext cx="429768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0" y="2560320"/>
            <a:ext cx="4297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572000" y="2560320"/>
            <a:ext cx="42976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18304" y="2651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Team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18304" y="287121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Shahrear -  Adam  ·  Istiak  ·  Mohibullah  ·  Arup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08576" y="3392424"/>
            <a:ext cx="429768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0" y="3346704"/>
            <a:ext cx="4297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0" y="3346704"/>
            <a:ext cx="429768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718304" y="34381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Course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718304" y="365760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Web Development For </a:t>
            </a:r>
            <a:r>
              <a:rPr lang="en-US" sz="1050" b="1" dirty="0" err="1">
                <a:solidFill>
                  <a:srgbClr val="0F172A"/>
                </a:solidFill>
              </a:rPr>
              <a:t>Freelanching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08576" y="4178808"/>
            <a:ext cx="429768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0" y="4133088"/>
            <a:ext cx="4297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0" y="4133088"/>
            <a:ext cx="429768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18304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Date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718304" y="444398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14-03-2026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101" name="DecoHuge1"/>
          <p:cNvSpPr/>
          <p:nvPr/>
        </p:nvSpPr>
        <p:spPr>
          <a:xfrm>
            <a:off x="7200000" y="-1800000"/>
            <a:ext cx="3600000" cy="3600000"/>
          </a:xfrm>
          <a:prstGeom prst="ellipse">
            <a:avLst/>
          </a:prstGeom>
          <a:gradFill>
            <a:gsLst>
              <a:gs pos="0">
                <a:srgbClr val="A570DF">
                  <a:alpha val="18000"/>
                </a:srgbClr>
              </a:gs>
              <a:gs pos="100000">
                <a:srgbClr val="6A11CB">
                  <a:alpha val="9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102" name="DecoMed1"/>
          <p:cNvSpPr/>
          <p:nvPr/>
        </p:nvSpPr>
        <p:spPr>
          <a:xfrm>
            <a:off x="8100000" y="-600000"/>
            <a:ext cx="2000000" cy="2000000"/>
          </a:xfrm>
          <a:prstGeom prst="ellipse">
            <a:avLst/>
          </a:prstGeom>
          <a:gradFill>
            <a:gsLst>
              <a:gs pos="0">
                <a:srgbClr val="7CACFD">
                  <a:alpha val="22000"/>
                </a:srgbClr>
              </a:gs>
              <a:gs pos="100000">
                <a:srgbClr val="2575FC">
                  <a:alpha val="11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103" name="DecoAccent1"/>
          <p:cNvSpPr/>
          <p:nvPr/>
        </p:nvSpPr>
        <p:spPr>
          <a:xfrm>
            <a:off x="8600000" y="500000"/>
            <a:ext cx="500000" cy="500000"/>
          </a:xfrm>
          <a:prstGeom prst="ellipse">
            <a:avLst/>
          </a:prstGeom>
          <a:solidFill>
            <a:srgbClr val="D97706">
              <a:alpha val="3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04" name="DecoBL1"/>
          <p:cNvSpPr/>
          <p:nvPr/>
        </p:nvSpPr>
        <p:spPr>
          <a:xfrm>
            <a:off x="-1400000" y="3600000"/>
            <a:ext cx="3000000" cy="3000000"/>
          </a:xfrm>
          <a:prstGeom prst="ellipse">
            <a:avLst/>
          </a:prstGeom>
          <a:gradFill>
            <a:gsLst>
              <a:gs pos="0">
                <a:srgbClr val="7CACFD">
                  <a:alpha val="14000"/>
                </a:srgbClr>
              </a:gs>
              <a:gs pos="100000">
                <a:srgbClr val="2575FC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110" name="Dot0"/>
          <p:cNvSpPr/>
          <p:nvPr/>
        </p:nvSpPr>
        <p:spPr>
          <a:xfrm>
            <a:off x="400000" y="4200000"/>
            <a:ext cx="110000" cy="110000"/>
          </a:xfrm>
          <a:prstGeom prst="ellipse">
            <a:avLst/>
          </a:prstGeom>
          <a:solidFill>
            <a:srgbClr val="6A11CB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11" name="Dot1"/>
          <p:cNvSpPr/>
          <p:nvPr/>
        </p:nvSpPr>
        <p:spPr>
          <a:xfrm>
            <a:off x="580000" y="4330000"/>
            <a:ext cx="75000" cy="75000"/>
          </a:xfrm>
          <a:prstGeom prst="ellipse">
            <a:avLst/>
          </a:prstGeom>
          <a:solidFill>
            <a:srgbClr val="6A11C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12" name="Dot2"/>
          <p:cNvSpPr/>
          <p:nvPr/>
        </p:nvSpPr>
        <p:spPr>
          <a:xfrm>
            <a:off x="310000" y="4420000"/>
            <a:ext cx="50000" cy="50000"/>
          </a:xfrm>
          <a:prstGeom prst="ellipse">
            <a:avLst/>
          </a:prstGeom>
          <a:solidFill>
            <a:srgbClr val="6A11C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13" name="Dot3"/>
          <p:cNvSpPr/>
          <p:nvPr/>
        </p:nvSpPr>
        <p:spPr>
          <a:xfrm>
            <a:off x="640000" y="4180000"/>
            <a:ext cx="42000" cy="42000"/>
          </a:xfrm>
          <a:prstGeom prst="ellipse">
            <a:avLst/>
          </a:prstGeom>
          <a:solidFill>
            <a:srgbClr val="6A11C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14" name="Dot4"/>
          <p:cNvSpPr/>
          <p:nvPr/>
        </p:nvSpPr>
        <p:spPr>
          <a:xfrm>
            <a:off x="470000" y="4480000"/>
            <a:ext cx="30000" cy="30000"/>
          </a:xfrm>
          <a:prstGeom prst="ellipse">
            <a:avLst/>
          </a:prstGeom>
          <a:solidFill>
            <a:srgbClr val="6A11CB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90500" dist="95250" dir="5400000" algn="ctr" rotWithShape="0">
              <a:srgbClr val="D97706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Word Processing Software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Definition  ·  History  ·  Evolution from Typewriter to AI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923544"/>
            <a:ext cx="868680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77824"/>
            <a:ext cx="8686800" cy="94839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77824"/>
            <a:ext cx="868680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969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1CB"/>
                </a:solidFill>
              </a:rPr>
              <a:t>Definition: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9156" y="1306116"/>
            <a:ext cx="8302752" cy="293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word processor is a software application that allows users to create, edit, format, save, and print text-based documents. It is essentially a digital upgrade from the traditional typewriter but far more powerful.</a:t>
            </a:r>
          </a:p>
        </p:txBody>
      </p:sp>
      <p:sp>
        <p:nvSpPr>
          <p:cNvPr id="14" name="Shape 11"/>
          <p:cNvSpPr/>
          <p:nvPr/>
        </p:nvSpPr>
        <p:spPr>
          <a:xfrm>
            <a:off x="777240" y="1883664"/>
            <a:ext cx="182880" cy="182880"/>
          </a:xfrm>
          <a:prstGeom prst="line">
            <a:avLst/>
          </a:prstGeom>
          <a:solidFill>
            <a:srgbClr val="6A11CB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5760" y="290779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Mainframe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Text Editors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226564" y="1883664"/>
            <a:ext cx="182880" cy="182880"/>
          </a:xfrm>
          <a:prstGeom prst="line">
            <a:avLst/>
          </a:prstGeom>
          <a:solidFill>
            <a:srgbClr val="2575FC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815084" y="290779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Wang Word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Processor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675888" y="1883664"/>
            <a:ext cx="182880" cy="182880"/>
          </a:xfrm>
          <a:prstGeom prst="line">
            <a:avLst/>
          </a:prstGeom>
          <a:solidFill>
            <a:srgbClr val="DC2626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3264408" y="290779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Microsoft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Word Launch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125212" y="1883664"/>
            <a:ext cx="182880" cy="182880"/>
          </a:xfrm>
          <a:prstGeom prst="line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4713732" y="290779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Graphical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Interfaces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6574536" y="1883664"/>
            <a:ext cx="182880" cy="182880"/>
          </a:xfrm>
          <a:prstGeom prst="line">
            <a:avLst/>
          </a:prstGeom>
          <a:solidFill>
            <a:srgbClr val="EA580C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6163056" y="290779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Cloud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Google Docs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8023860" y="1883664"/>
            <a:ext cx="182880" cy="182880"/>
          </a:xfrm>
          <a:prstGeom prst="line">
            <a:avLst/>
          </a:prstGeom>
          <a:solidFill>
            <a:srgbClr val="DB2777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2"/>
          <p:cNvSpPr/>
          <p:nvPr/>
        </p:nvSpPr>
        <p:spPr>
          <a:xfrm>
            <a:off x="7612380" y="290779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AI Writing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Assistants</a:t>
            </a:r>
            <a:endParaRPr lang="en-US" sz="950" dirty="0"/>
          </a:p>
        </p:txBody>
      </p:sp>
      <p:sp>
        <p:nvSpPr>
          <p:cNvPr id="62" name="Shape 53"/>
          <p:cNvSpPr/>
          <p:nvPr/>
        </p:nvSpPr>
        <p:spPr>
          <a:xfrm>
            <a:off x="228600" y="4681728"/>
            <a:ext cx="8686800" cy="18288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/>
          <p:nvPr/>
        </p:nvSpPr>
        <p:spPr>
          <a:xfrm>
            <a:off x="320040" y="469087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A11CB"/>
                </a:solidFill>
              </a:rPr>
              <a:t>📊  1 Billion+ daily users  ·  60+ years of evolution  ·  Available in 100+ languages  ·  Used in every major industry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6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7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2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7CACFD">
                  <a:alpha val="16000"/>
                </a:srgbClr>
              </a:gs>
              <a:gs pos="100000">
                <a:srgbClr val="2575FC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2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E97DAD">
                  <a:alpha val="20000"/>
                </a:srgbClr>
              </a:gs>
              <a:gs pos="100000">
                <a:srgbClr val="DB2777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2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EA580C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E97DAD">
                  <a:alpha val="12000"/>
                </a:srgbClr>
              </a:gs>
              <a:gs pos="100000">
                <a:srgbClr val="DB2777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2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7CACFD">
                  <a:alpha val="14000"/>
                </a:srgbClr>
              </a:gs>
              <a:gs pos="100000">
                <a:srgbClr val="2575FC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2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EA580C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2575FC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2575FC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2575FC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7" name="Picture 66" descr="01_timeline_c.png">
            <a:extLst>
              <a:ext uri="{FF2B5EF4-FFF2-40B4-BE49-F238E27FC236}">
                <a16:creationId xmlns:a16="http://schemas.microsoft.com/office/drawing/2014/main" id="{3EC84013-BD75-3426-7476-1EA84BB88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84" y="2113232"/>
            <a:ext cx="8738032" cy="19300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 &amp; Workspace of Microsoft Word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Title Bar · Ribbon · Document Area · Navigation Pane · Status Bar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5029200" cy="404164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50292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502920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6032" y="886968"/>
            <a:ext cx="4974336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0896" y="9052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📄  Document1 - Microsoft Word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1161288"/>
            <a:ext cx="4974336" cy="182880"/>
          </a:xfrm>
          <a:prstGeom prst="rect">
            <a:avLst/>
          </a:prstGeom>
          <a:solidFill>
            <a:srgbClr val="253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11704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💾  ↩  ↪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56032" y="1344168"/>
            <a:ext cx="4974336" cy="201168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2608" y="1344168"/>
            <a:ext cx="749808" cy="201168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92608" y="13533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088136" y="1344168"/>
            <a:ext cx="749808" cy="201168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88136" y="13533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Insert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883664" y="1344168"/>
            <a:ext cx="749808" cy="201168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83664" y="13533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Design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679192" y="1344168"/>
            <a:ext cx="749808" cy="201168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679192" y="13533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Layout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474720" y="1344168"/>
            <a:ext cx="749808" cy="201168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74720" y="13533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References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270248" y="1344168"/>
            <a:ext cx="749808" cy="201168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270248" y="13533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Review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56032" y="1545336"/>
            <a:ext cx="4974336" cy="438912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0040" y="15819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  I  U  ─  Calibri  ▾  11  ▾  │  ≡  ≡  ≡  ≡  │  Aa  ▾  Style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56032" y="1984248"/>
            <a:ext cx="4974336" cy="1280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30352" y="2112264"/>
            <a:ext cx="4462272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58368" y="2231136"/>
            <a:ext cx="320040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58368" y="2432304"/>
            <a:ext cx="256032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58368" y="2633472"/>
            <a:ext cx="292608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58368" y="2834640"/>
            <a:ext cx="228600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58368" y="3035808"/>
            <a:ext cx="329184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58368" y="3236976"/>
            <a:ext cx="265176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58368" y="3438144"/>
            <a:ext cx="301752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58368" y="3639312"/>
            <a:ext cx="237744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58368" y="3840480"/>
            <a:ext cx="310896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58368" y="4041648"/>
            <a:ext cx="164592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85216" y="2157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Document Area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256032" y="4581144"/>
            <a:ext cx="4974336" cy="1828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10896" y="459028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Page 1 of 1  |  0 words  |  English  |  ──────── 100%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431536" y="886968"/>
            <a:ext cx="35204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394960" y="841248"/>
            <a:ext cx="3520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394960" y="841248"/>
            <a:ext cx="35204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>
            <a:spLocks noGrp="1"/>
          </p:cNvSpPr>
          <p:nvPr/>
        </p:nvSpPr>
        <p:spPr>
          <a:xfrm>
            <a:off x="5504688" y="969264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005840"/>
            <a:ext cx="274320" cy="2743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961888" y="932688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Title Bar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5961888" y="117043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Shows document &amp; program name at the top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5431536" y="1563624"/>
            <a:ext cx="35204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5394960" y="1517904"/>
            <a:ext cx="3520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5394960" y="1517904"/>
            <a:ext cx="35204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>
            <a:spLocks noGrp="1"/>
          </p:cNvSpPr>
          <p:nvPr/>
        </p:nvSpPr>
        <p:spPr>
          <a:xfrm>
            <a:off x="5504688" y="1645920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1682496"/>
            <a:ext cx="274320" cy="274320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5961888" y="160934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Quick Access</a:t>
            </a:r>
            <a:endParaRPr lang="en-US" sz="1050" dirty="0"/>
          </a:p>
        </p:txBody>
      </p:sp>
      <p:sp>
        <p:nvSpPr>
          <p:cNvPr id="58" name="Text 53"/>
          <p:cNvSpPr/>
          <p:nvPr/>
        </p:nvSpPr>
        <p:spPr>
          <a:xfrm>
            <a:off x="5961888" y="1847088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Save, Undo, Redo — instant one-click toolbar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5431536" y="2240280"/>
            <a:ext cx="35204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5"/>
          <p:cNvSpPr/>
          <p:nvPr/>
        </p:nvSpPr>
        <p:spPr>
          <a:xfrm>
            <a:off x="5394960" y="2194560"/>
            <a:ext cx="3520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6"/>
          <p:cNvSpPr/>
          <p:nvPr/>
        </p:nvSpPr>
        <p:spPr>
          <a:xfrm>
            <a:off x="5394960" y="2194560"/>
            <a:ext cx="35204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7"/>
          <p:cNvSpPr>
            <a:spLocks noGrp="1"/>
          </p:cNvSpPr>
          <p:nvPr/>
        </p:nvSpPr>
        <p:spPr>
          <a:xfrm>
            <a:off x="5504688" y="232257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2359152"/>
            <a:ext cx="274320" cy="274320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5961888" y="228600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Ribbon</a:t>
            </a:r>
            <a:endParaRPr lang="en-US" sz="1050" dirty="0"/>
          </a:p>
        </p:txBody>
      </p:sp>
      <p:sp>
        <p:nvSpPr>
          <p:cNvPr id="65" name="Text 59"/>
          <p:cNvSpPr/>
          <p:nvPr/>
        </p:nvSpPr>
        <p:spPr>
          <a:xfrm>
            <a:off x="5961888" y="252374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Home/Insert/Design/Layout/References/Review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5431536" y="2916936"/>
            <a:ext cx="35204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5394960" y="2871216"/>
            <a:ext cx="3520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2"/>
          <p:cNvSpPr/>
          <p:nvPr/>
        </p:nvSpPr>
        <p:spPr>
          <a:xfrm>
            <a:off x="5394960" y="2871216"/>
            <a:ext cx="35204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3"/>
          <p:cNvSpPr>
            <a:spLocks noGrp="1"/>
          </p:cNvSpPr>
          <p:nvPr/>
        </p:nvSpPr>
        <p:spPr>
          <a:xfrm>
            <a:off x="5504688" y="299923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264" y="3035808"/>
            <a:ext cx="274320" cy="274320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5961888" y="29626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Ruler</a:t>
            </a:r>
            <a:endParaRPr lang="en-US" sz="1050" dirty="0"/>
          </a:p>
        </p:txBody>
      </p:sp>
      <p:sp>
        <p:nvSpPr>
          <p:cNvPr id="72" name="Text 65"/>
          <p:cNvSpPr/>
          <p:nvPr/>
        </p:nvSpPr>
        <p:spPr>
          <a:xfrm>
            <a:off x="5961888" y="320040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Set margins, indentation and tab stops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5431536" y="3593592"/>
            <a:ext cx="35204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67"/>
          <p:cNvSpPr/>
          <p:nvPr/>
        </p:nvSpPr>
        <p:spPr>
          <a:xfrm>
            <a:off x="5394960" y="3547872"/>
            <a:ext cx="3520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8"/>
          <p:cNvSpPr/>
          <p:nvPr/>
        </p:nvSpPr>
        <p:spPr>
          <a:xfrm>
            <a:off x="5394960" y="3547872"/>
            <a:ext cx="352044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69"/>
          <p:cNvSpPr>
            <a:spLocks noGrp="1"/>
          </p:cNvSpPr>
          <p:nvPr/>
        </p:nvSpPr>
        <p:spPr>
          <a:xfrm>
            <a:off x="5504688" y="36758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264" y="3712464"/>
            <a:ext cx="274320" cy="274320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5961888" y="363931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Doc Area</a:t>
            </a:r>
            <a:endParaRPr lang="en-US" sz="1050" dirty="0"/>
          </a:p>
        </p:txBody>
      </p:sp>
      <p:sp>
        <p:nvSpPr>
          <p:cNvPr id="79" name="Text 71"/>
          <p:cNvSpPr/>
          <p:nvPr/>
        </p:nvSpPr>
        <p:spPr>
          <a:xfrm>
            <a:off x="5961888" y="387705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Your canvas — all writing &amp; formatting here</a:t>
            </a:r>
            <a:endParaRPr lang="en-US" sz="900" dirty="0"/>
          </a:p>
        </p:txBody>
      </p:sp>
      <p:sp>
        <p:nvSpPr>
          <p:cNvPr id="80" name="Shape 72"/>
          <p:cNvSpPr/>
          <p:nvPr/>
        </p:nvSpPr>
        <p:spPr>
          <a:xfrm>
            <a:off x="5431536" y="4270248"/>
            <a:ext cx="35204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3"/>
          <p:cNvSpPr/>
          <p:nvPr/>
        </p:nvSpPr>
        <p:spPr>
          <a:xfrm>
            <a:off x="5394960" y="4224528"/>
            <a:ext cx="35204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4"/>
          <p:cNvSpPr/>
          <p:nvPr/>
        </p:nvSpPr>
        <p:spPr>
          <a:xfrm>
            <a:off x="5394960" y="4224528"/>
            <a:ext cx="352044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5"/>
          <p:cNvSpPr>
            <a:spLocks noGrp="1"/>
          </p:cNvSpPr>
          <p:nvPr/>
        </p:nvSpPr>
        <p:spPr>
          <a:xfrm>
            <a:off x="5504688" y="4352544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1264" y="4389120"/>
            <a:ext cx="274320" cy="274320"/>
          </a:xfrm>
          <a:prstGeom prst="rect">
            <a:avLst/>
          </a:prstGeom>
        </p:spPr>
      </p:pic>
      <p:sp>
        <p:nvSpPr>
          <p:cNvPr id="85" name="Text 76"/>
          <p:cNvSpPr/>
          <p:nvPr/>
        </p:nvSpPr>
        <p:spPr>
          <a:xfrm>
            <a:off x="5961888" y="4315968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Nav Pane</a:t>
            </a:r>
            <a:endParaRPr lang="en-US" sz="1050" dirty="0"/>
          </a:p>
        </p:txBody>
      </p:sp>
      <p:sp>
        <p:nvSpPr>
          <p:cNvPr id="86" name="Text 77"/>
          <p:cNvSpPr/>
          <p:nvPr/>
        </p:nvSpPr>
        <p:spPr>
          <a:xfrm>
            <a:off x="5961888" y="455371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Jump between headings, search instantly</a:t>
            </a:r>
            <a:endParaRPr lang="en-US" sz="900" dirty="0"/>
          </a:p>
        </p:txBody>
      </p:sp>
      <p:sp>
        <p:nvSpPr>
          <p:cNvPr id="87" name="Shape 7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79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0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3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E97DAD">
                  <a:alpha val="16000"/>
                </a:srgbClr>
              </a:gs>
              <a:gs pos="100000">
                <a:srgbClr val="DB2777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3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6DBEB7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3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059669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6DBEB7">
                  <a:alpha val="12000"/>
                </a:srgbClr>
              </a:gs>
              <a:gs pos="100000">
                <a:srgbClr val="0D9488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3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E97DAD">
                  <a:alpha val="14000"/>
                </a:srgbClr>
              </a:gs>
              <a:gs pos="100000">
                <a:srgbClr val="DB2777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3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059669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DB2777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DB2777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DB2777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Formatting &amp; Font Management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Bold · Italic · Color · Effects · Character Spacing · Shortcuts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566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9692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Bold / Italic / Underline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66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Ctrl+B, Ctrl+I, Ctrl+U — the three core formatting shortcuts.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369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0" y="841248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>
            <a:spLocks noGrp="1"/>
          </p:cNvSpPr>
          <p:nvPr/>
        </p:nvSpPr>
        <p:spPr>
          <a:xfrm>
            <a:off x="33284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96926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Font Family &amp; Size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3284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Calibri/Arial/Times New Roman. Body: 11-12pt. Headings: 18-24pt.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087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722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172200" y="841248"/>
            <a:ext cx="2834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>
            <a:spLocks noGrp="1"/>
          </p:cNvSpPr>
          <p:nvPr/>
        </p:nvSpPr>
        <p:spPr>
          <a:xfrm>
            <a:off x="63002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96926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574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Text Color &amp; Highlight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3002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Color-code key info. Highlight like a real marker pen.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651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2286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28600" y="2176272"/>
            <a:ext cx="283464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>
            <a:spLocks noGrp="1"/>
          </p:cNvSpPr>
          <p:nvPr/>
        </p:nvSpPr>
        <p:spPr>
          <a:xfrm>
            <a:off x="3566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230428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38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Superscript &amp; Subscript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566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Write X² (superscript) or H₂O (subscript) for science &amp; maths.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369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2004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3200400" y="2176272"/>
            <a:ext cx="28346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>
            <a:spLocks noGrp="1"/>
          </p:cNvSpPr>
          <p:nvPr/>
        </p:nvSpPr>
        <p:spPr>
          <a:xfrm>
            <a:off x="33284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230428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7856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Shadow / Outline / Emboss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33284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Decorative effects for professional headlines and display text.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2087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1722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6172200" y="2176272"/>
            <a:ext cx="283464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>
            <a:spLocks noGrp="1"/>
          </p:cNvSpPr>
          <p:nvPr/>
        </p:nvSpPr>
        <p:spPr>
          <a:xfrm>
            <a:off x="63002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2304288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7574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Character Spacing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63002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Spread letters wider — gives headings a refined, elegant look.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2651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2286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228600" y="3511296"/>
            <a:ext cx="28346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>
            <a:spLocks noGrp="1"/>
          </p:cNvSpPr>
          <p:nvPr/>
        </p:nvSpPr>
        <p:spPr>
          <a:xfrm>
            <a:off x="3566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787"/>
              </a:gs>
              <a:gs pos="100000">
                <a:srgbClr val="DC2626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C2626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" y="3639312"/>
            <a:ext cx="274320" cy="27432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138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Change Case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3566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Switch UPPERCASE ↔ lowercase ↔ Title Case instantly — no retyping.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32369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32004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49"/>
          <p:cNvSpPr/>
          <p:nvPr/>
        </p:nvSpPr>
        <p:spPr>
          <a:xfrm>
            <a:off x="3200400" y="3511296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0"/>
          <p:cNvSpPr>
            <a:spLocks noGrp="1"/>
          </p:cNvSpPr>
          <p:nvPr/>
        </p:nvSpPr>
        <p:spPr>
          <a:xfrm>
            <a:off x="33284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4992" y="3639312"/>
            <a:ext cx="274320" cy="274320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37856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Strikethrough</a:t>
            </a:r>
            <a:endParaRPr lang="en-US" sz="1000" dirty="0"/>
          </a:p>
        </p:txBody>
      </p:sp>
      <p:sp>
        <p:nvSpPr>
          <p:cNvPr id="63" name="Text 52"/>
          <p:cNvSpPr/>
          <p:nvPr/>
        </p:nvSpPr>
        <p:spPr>
          <a:xfrm>
            <a:off x="33284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Show deleted or revised content without removing it from the doc.</a:t>
            </a:r>
            <a:endParaRPr lang="en-US" sz="950" dirty="0"/>
          </a:p>
        </p:txBody>
      </p:sp>
      <p:sp>
        <p:nvSpPr>
          <p:cNvPr id="64" name="Shape 53"/>
          <p:cNvSpPr/>
          <p:nvPr/>
        </p:nvSpPr>
        <p:spPr>
          <a:xfrm>
            <a:off x="62087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4"/>
          <p:cNvSpPr/>
          <p:nvPr/>
        </p:nvSpPr>
        <p:spPr>
          <a:xfrm>
            <a:off x="61722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5"/>
          <p:cNvSpPr/>
          <p:nvPr/>
        </p:nvSpPr>
        <p:spPr>
          <a:xfrm>
            <a:off x="6172200" y="3511296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6"/>
          <p:cNvSpPr>
            <a:spLocks noGrp="1"/>
          </p:cNvSpPr>
          <p:nvPr/>
        </p:nvSpPr>
        <p:spPr>
          <a:xfrm>
            <a:off x="63002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639312"/>
            <a:ext cx="274320" cy="274320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67574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Clear Formatting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63002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Ctrl+Space — remove all formatting, return to clean default style.</a:t>
            </a:r>
            <a:endParaRPr lang="en-US" sz="950" dirty="0"/>
          </a:p>
        </p:txBody>
      </p:sp>
      <p:sp>
        <p:nvSpPr>
          <p:cNvPr id="71" name="Shape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0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1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4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6DBEB7">
                  <a:alpha val="16000"/>
                </a:srgbClr>
              </a:gs>
              <a:gs pos="100000">
                <a:srgbClr val="0D9488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4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E8AD69">
                  <a:alpha val="20000"/>
                </a:srgbClr>
              </a:gs>
              <a:gs pos="100000">
                <a:srgbClr val="D97706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4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7C3AED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E8AD69">
                  <a:alpha val="12000"/>
                </a:srgbClr>
              </a:gs>
              <a:gs pos="100000">
                <a:srgbClr val="D97706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4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6DBEB7">
                  <a:alpha val="14000"/>
                </a:srgbClr>
              </a:gs>
              <a:gs pos="100000">
                <a:srgbClr val="0D9488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4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7C3AED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 Formatting &amp; Alignment Techniques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Alignment · Line Spacing · Indentation · Borders · Tab Stops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084832" cy="26517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08483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084832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841248"/>
            <a:ext cx="2084832" cy="32918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877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Left Align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124358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Default — text lines up on the left margin. Most common for all body text.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212140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6616" y="21488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4A3B8"/>
                </a:solidFill>
              </a:rPr>
              <a:t>The quick brown fox starts right here at the left edge.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478024" y="886968"/>
            <a:ext cx="2084832" cy="26517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41448" y="841248"/>
            <a:ext cx="208483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441448" y="841248"/>
            <a:ext cx="2084832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441448" y="841248"/>
            <a:ext cx="2084832" cy="32918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32888" y="877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Center Align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32888" y="124358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Text is centered. Perfect for headings, titles and cover pages.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32888" y="212140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69464" y="21488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Centered text sits in the middle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90872" y="886968"/>
            <a:ext cx="2084832" cy="26517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54296" y="841248"/>
            <a:ext cx="208483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54296" y="841248"/>
            <a:ext cx="2084832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54296" y="841248"/>
            <a:ext cx="2084832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45736" y="877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Right Align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45736" y="124358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Text lines up on the right. Used in formal and creative layouts.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45736" y="212140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82312" y="21488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4A3B8"/>
                </a:solidFill>
              </a:rPr>
              <a:t>Right aligned text →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903720" y="886968"/>
            <a:ext cx="2084832" cy="26517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67144" y="841248"/>
            <a:ext cx="208483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867144" y="841248"/>
            <a:ext cx="2084832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867144" y="841248"/>
            <a:ext cx="2084832" cy="32918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958584" y="877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Justify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958584" y="124358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Both edges aligned. Used in books, newspapers and academic papers.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958584" y="212140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995160" y="21488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94A3B8"/>
                </a:solidFill>
              </a:rPr>
              <a:t>Justified text spreads neatly across the entire available line width.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65176" y="3703320"/>
            <a:ext cx="28346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228600" y="3657600"/>
            <a:ext cx="2834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228600" y="3657600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338328" y="378561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3822192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95528" y="374904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Line Spacing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795528" y="39867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Single 1.0  ·  Standard 1.5  ·  Double 2.0 for academic submissions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236976" y="3703320"/>
            <a:ext cx="28346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3200400" y="3657600"/>
            <a:ext cx="2834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3200400" y="3657600"/>
            <a:ext cx="2834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>
            <a:spLocks noGrp="1"/>
          </p:cNvSpPr>
          <p:nvPr/>
        </p:nvSpPr>
        <p:spPr>
          <a:xfrm>
            <a:off x="3310128" y="378561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822192"/>
            <a:ext cx="274320" cy="27432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767328" y="374904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Indentation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3767328" y="39867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First-line indent, Hanging indent (bibliography), Block indent (quotes)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208776" y="3703320"/>
            <a:ext cx="283464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6172200" y="3657600"/>
            <a:ext cx="2834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6172200" y="3657600"/>
            <a:ext cx="28346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2"/>
          <p:cNvSpPr>
            <a:spLocks noGrp="1"/>
          </p:cNvSpPr>
          <p:nvPr/>
        </p:nvSpPr>
        <p:spPr>
          <a:xfrm>
            <a:off x="6281928" y="378561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822192"/>
            <a:ext cx="274320" cy="274320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6739128" y="374904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Keep Together</a:t>
            </a:r>
            <a:endParaRPr lang="en-US" sz="1050" dirty="0"/>
          </a:p>
        </p:txBody>
      </p:sp>
      <p:sp>
        <p:nvSpPr>
          <p:cNvPr id="60" name="Text 54"/>
          <p:cNvSpPr/>
          <p:nvPr/>
        </p:nvSpPr>
        <p:spPr>
          <a:xfrm>
            <a:off x="6739128" y="39867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Prevents a paragraph from splitting awkwardly across two pages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6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5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E8AD69">
                  <a:alpha val="16000"/>
                </a:srgbClr>
              </a:gs>
              <a:gs pos="100000">
                <a:srgbClr val="D97706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5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F29A6D">
                  <a:alpha val="20000"/>
                </a:srgbClr>
              </a:gs>
              <a:gs pos="100000">
                <a:srgbClr val="EA580C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5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DC2626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F29A6D">
                  <a:alpha val="12000"/>
                </a:srgbClr>
              </a:gs>
              <a:gs pos="100000">
                <a:srgbClr val="EA580C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5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E8AD69">
                  <a:alpha val="14000"/>
                </a:srgbClr>
              </a:gs>
              <a:gs pos="100000">
                <a:srgbClr val="D97706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5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DC2626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D97706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D97706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Layout, Margins &amp; Document Structure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Page Size · Orientation · Margins · Columns · Watermarks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3291840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3291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32918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024128"/>
            <a:ext cx="2176272" cy="30723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7512" y="1188720"/>
            <a:ext cx="1865376" cy="2724912"/>
          </a:xfrm>
          <a:prstGeom prst="rect">
            <a:avLst/>
          </a:prstGeom>
          <a:solidFill>
            <a:srgbClr val="F8FAFC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7512" y="1188720"/>
            <a:ext cx="1865376" cy="219456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" y="12070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575FC"/>
                </a:solidFill>
              </a:rPr>
              <a:t>Header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67512" y="3694176"/>
            <a:ext cx="1865376" cy="219456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" y="37124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575FC"/>
                </a:solidFill>
              </a:rPr>
              <a:t>Footer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13232" y="1481328"/>
            <a:ext cx="146304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3232" y="1664208"/>
            <a:ext cx="109728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13232" y="1847088"/>
            <a:ext cx="164592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13232" y="2029968"/>
            <a:ext cx="128016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13232" y="2212848"/>
            <a:ext cx="155448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13232" y="2395728"/>
            <a:ext cx="118872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13232" y="2578608"/>
            <a:ext cx="173736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3232" y="2761488"/>
            <a:ext cx="137160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13232" y="2944368"/>
            <a:ext cx="146304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3232" y="3127248"/>
            <a:ext cx="100584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3232" y="3310128"/>
            <a:ext cx="1280160" cy="731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37744" y="25054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575FC"/>
                </a:solidFill>
              </a:rPr>
              <a:t>← Margin →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92608" y="44622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A4  ·  210 × 297 mm  ·  Portrait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94176" y="886968"/>
            <a:ext cx="525780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657600" y="841248"/>
            <a:ext cx="5257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657600" y="841248"/>
            <a:ext cx="525780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767328" y="969264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100584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224528" y="932688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Page Size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224528" y="1170432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A4 (210×297mm) standard globally, Letter (8.5×11") in USA/Canada.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694176" y="1563624"/>
            <a:ext cx="525780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3657600" y="1517904"/>
            <a:ext cx="5257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3657600" y="1517904"/>
            <a:ext cx="525780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>
            <a:spLocks noGrp="1"/>
          </p:cNvSpPr>
          <p:nvPr/>
        </p:nvSpPr>
        <p:spPr>
          <a:xfrm>
            <a:off x="3767328" y="1645920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904" y="1682496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224528" y="1609344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Orientation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4224528" y="184708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Portrait for documents. Landscape for tables, charts and timelines.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694176" y="2240280"/>
            <a:ext cx="525780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3657600" y="2194560"/>
            <a:ext cx="5257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3657600" y="2194560"/>
            <a:ext cx="52578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>
            <a:spLocks noGrp="1"/>
          </p:cNvSpPr>
          <p:nvPr/>
        </p:nvSpPr>
        <p:spPr>
          <a:xfrm>
            <a:off x="3767328" y="232257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904" y="2359152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4224528" y="2286000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Margins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4224528" y="2523744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Standard: 1" all sides. Custom via Layout → Margins → Custom.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3694176" y="2916936"/>
            <a:ext cx="525780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3657600" y="2871216"/>
            <a:ext cx="5257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3657600" y="2871216"/>
            <a:ext cx="52578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>
            <a:spLocks noGrp="1"/>
          </p:cNvSpPr>
          <p:nvPr/>
        </p:nvSpPr>
        <p:spPr>
          <a:xfrm>
            <a:off x="3767328" y="299923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904" y="3035808"/>
            <a:ext cx="274320" cy="27432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4224528" y="2962656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Columns</a:t>
            </a:r>
            <a:endParaRPr lang="en-US" sz="1050" dirty="0"/>
          </a:p>
        </p:txBody>
      </p:sp>
      <p:sp>
        <p:nvSpPr>
          <p:cNvPr id="57" name="Text 50"/>
          <p:cNvSpPr/>
          <p:nvPr/>
        </p:nvSpPr>
        <p:spPr>
          <a:xfrm>
            <a:off x="4224528" y="3200400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2 or 3 columns for newsletters and brochures. Layout → Columns.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3694176" y="3593592"/>
            <a:ext cx="525780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2"/>
          <p:cNvSpPr/>
          <p:nvPr/>
        </p:nvSpPr>
        <p:spPr>
          <a:xfrm>
            <a:off x="3657600" y="3547872"/>
            <a:ext cx="5257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3"/>
          <p:cNvSpPr/>
          <p:nvPr/>
        </p:nvSpPr>
        <p:spPr>
          <a:xfrm>
            <a:off x="3657600" y="3547872"/>
            <a:ext cx="5257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4"/>
          <p:cNvSpPr>
            <a:spLocks noGrp="1"/>
          </p:cNvSpPr>
          <p:nvPr/>
        </p:nvSpPr>
        <p:spPr>
          <a:xfrm>
            <a:off x="3767328" y="36758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3712464"/>
            <a:ext cx="274320" cy="274320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4224528" y="363931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Page Breaks</a:t>
            </a:r>
            <a:endParaRPr lang="en-US" sz="1050" dirty="0"/>
          </a:p>
        </p:txBody>
      </p:sp>
      <p:sp>
        <p:nvSpPr>
          <p:cNvPr id="64" name="Text 56"/>
          <p:cNvSpPr/>
          <p:nvPr/>
        </p:nvSpPr>
        <p:spPr>
          <a:xfrm>
            <a:off x="4224528" y="3877056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Ctrl+Enter — force content to the next page cleanly.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3694176" y="4270248"/>
            <a:ext cx="5257800" cy="6949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3657600" y="4224528"/>
            <a:ext cx="5257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59"/>
          <p:cNvSpPr/>
          <p:nvPr/>
        </p:nvSpPr>
        <p:spPr>
          <a:xfrm>
            <a:off x="3657600" y="4224528"/>
            <a:ext cx="52578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0"/>
          <p:cNvSpPr>
            <a:spLocks noGrp="1"/>
          </p:cNvSpPr>
          <p:nvPr/>
        </p:nvSpPr>
        <p:spPr>
          <a:xfrm>
            <a:off x="3767328" y="4352544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3904" y="4389120"/>
            <a:ext cx="274320" cy="274320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4224528" y="4315968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Watermarks</a:t>
            </a:r>
            <a:endParaRPr lang="en-US" sz="1050" dirty="0"/>
          </a:p>
        </p:txBody>
      </p:sp>
      <p:sp>
        <p:nvSpPr>
          <p:cNvPr id="71" name="Text 62"/>
          <p:cNvSpPr/>
          <p:nvPr/>
        </p:nvSpPr>
        <p:spPr>
          <a:xfrm>
            <a:off x="4224528" y="4553712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DRAFT or CONFIDENTIAL background text. Design → Watermark.</a:t>
            </a:r>
            <a:endParaRPr lang="en-US" sz="900" dirty="0"/>
          </a:p>
        </p:txBody>
      </p:sp>
      <p:sp>
        <p:nvSpPr>
          <p:cNvPr id="72" name="Shape 6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64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5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6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F29A6D">
                  <a:alpha val="16000"/>
                </a:srgbClr>
              </a:gs>
              <a:gs pos="100000">
                <a:srgbClr val="EA580C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6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69C0A5">
                  <a:alpha val="20000"/>
                </a:srgbClr>
              </a:gs>
              <a:gs pos="100000">
                <a:srgbClr val="059669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6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0891B2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69C0A5">
                  <a:alpha val="12000"/>
                </a:srgbClr>
              </a:gs>
              <a:gs pos="100000">
                <a:srgbClr val="059669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6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F29A6D">
                  <a:alpha val="14000"/>
                </a:srgbClr>
              </a:gs>
              <a:gs pos="100000">
                <a:srgbClr val="EA580C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6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0891B2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EA580C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EA580C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Tables, Lists &amp; Document Organization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Tables · Bullet Lists · Numbered Lists · TOC · Bookmarks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834640" cy="29626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834640" cy="2962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841248"/>
            <a:ext cx="2834640" cy="438912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896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896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6616" y="1353312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4632" y="12984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Insert → Table → choose size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56616" y="1737360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84632" y="16824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Merge / Split cells freely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56616" y="2121408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4632" y="20665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Built-in style gallery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56616" y="2505456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84632" y="24505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Sort A-Z or numerically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56616" y="2889504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" y="28346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334155"/>
                </a:solidFill>
              </a:rPr>
              <a:t>Add SUM/AVERAGE formulas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56616" y="3273552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84632" y="32186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Convert text to table instantly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236976" y="886968"/>
            <a:ext cx="2834640" cy="29626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200400" y="841248"/>
            <a:ext cx="2834640" cy="2962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200400" y="841248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200400" y="841248"/>
            <a:ext cx="2834640" cy="438912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896112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657600" y="896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3328416" y="1353312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3456432" y="12984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Bullet Lists (•  ✓  ▸)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328416" y="1737360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456432" y="16824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Numbered 1, 2, 3...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328416" y="2121408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3456432" y="20665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Multilevel nested lists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328416" y="2505456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3456432" y="24505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Custom bullet symbols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3328416" y="2889504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3456432" y="28346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Restart or continue numbering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3328416" y="3273552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3456432" y="32186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Define your own list style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208776" y="886968"/>
            <a:ext cx="2834640" cy="29626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6172200" y="841248"/>
            <a:ext cx="2834640" cy="2962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6172200" y="841248"/>
            <a:ext cx="2834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6172200" y="841248"/>
            <a:ext cx="283464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896112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629400" y="896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6300216" y="1353312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6428232" y="12984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Heading Styles → auto TOC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6300216" y="1737360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6428232" y="16824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Bookmarks for quick jumps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300216" y="2121408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6428232" y="20665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Cross-references between sections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6300216" y="2505456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/>
          <p:nvPr/>
        </p:nvSpPr>
        <p:spPr>
          <a:xfrm>
            <a:off x="6428232" y="24505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Figure/Table captions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300216" y="2889504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6428232" y="28346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Footnotes &amp; Endnotes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6300216" y="3273552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/>
          <p:nvPr/>
        </p:nvSpPr>
        <p:spPr>
          <a:xfrm>
            <a:off x="6428232" y="32186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Index from marked entries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265176" y="3959352"/>
            <a:ext cx="8686800" cy="89611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7"/>
          <p:cNvSpPr/>
          <p:nvPr/>
        </p:nvSpPr>
        <p:spPr>
          <a:xfrm>
            <a:off x="228600" y="3913632"/>
            <a:ext cx="8686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58"/>
          <p:cNvSpPr/>
          <p:nvPr/>
        </p:nvSpPr>
        <p:spPr>
          <a:xfrm>
            <a:off x="228600" y="3913632"/>
            <a:ext cx="86868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/>
          <p:nvPr/>
        </p:nvSpPr>
        <p:spPr>
          <a:xfrm>
            <a:off x="347472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Sample Table: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274320" y="4206240"/>
            <a:ext cx="1664208" cy="219456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/>
          <p:nvPr/>
        </p:nvSpPr>
        <p:spPr>
          <a:xfrm>
            <a:off x="274320" y="42153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Name</a:t>
            </a:r>
            <a:endParaRPr lang="en-US" sz="800" dirty="0"/>
          </a:p>
        </p:txBody>
      </p:sp>
      <p:sp>
        <p:nvSpPr>
          <p:cNvPr id="68" name="Shape 62"/>
          <p:cNvSpPr/>
          <p:nvPr/>
        </p:nvSpPr>
        <p:spPr>
          <a:xfrm>
            <a:off x="1993392" y="4206240"/>
            <a:ext cx="1664208" cy="219456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3"/>
          <p:cNvSpPr/>
          <p:nvPr/>
        </p:nvSpPr>
        <p:spPr>
          <a:xfrm>
            <a:off x="1993392" y="42153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Student ID</a:t>
            </a:r>
            <a:endParaRPr lang="en-US" sz="800" dirty="0"/>
          </a:p>
        </p:txBody>
      </p:sp>
      <p:sp>
        <p:nvSpPr>
          <p:cNvPr id="70" name="Shape 64"/>
          <p:cNvSpPr/>
          <p:nvPr/>
        </p:nvSpPr>
        <p:spPr>
          <a:xfrm>
            <a:off x="3712464" y="4206240"/>
            <a:ext cx="1664208" cy="2194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5"/>
          <p:cNvSpPr/>
          <p:nvPr/>
        </p:nvSpPr>
        <p:spPr>
          <a:xfrm>
            <a:off x="3712464" y="42153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Course</a:t>
            </a:r>
            <a:endParaRPr lang="en-US" sz="800" dirty="0"/>
          </a:p>
        </p:txBody>
      </p:sp>
      <p:sp>
        <p:nvSpPr>
          <p:cNvPr id="72" name="Shape 66"/>
          <p:cNvSpPr/>
          <p:nvPr/>
        </p:nvSpPr>
        <p:spPr>
          <a:xfrm>
            <a:off x="5431536" y="4206240"/>
            <a:ext cx="1664208" cy="21945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7"/>
          <p:cNvSpPr/>
          <p:nvPr/>
        </p:nvSpPr>
        <p:spPr>
          <a:xfrm>
            <a:off x="5431536" y="42153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Assignment</a:t>
            </a:r>
            <a:endParaRPr lang="en-US" sz="800" dirty="0"/>
          </a:p>
        </p:txBody>
      </p:sp>
      <p:sp>
        <p:nvSpPr>
          <p:cNvPr id="74" name="Shape 68"/>
          <p:cNvSpPr/>
          <p:nvPr/>
        </p:nvSpPr>
        <p:spPr>
          <a:xfrm>
            <a:off x="7150608" y="4206240"/>
            <a:ext cx="1664208" cy="21945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/>
          <p:nvPr/>
        </p:nvSpPr>
        <p:spPr>
          <a:xfrm>
            <a:off x="7150608" y="42153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Grade</a:t>
            </a:r>
            <a:endParaRPr lang="en-US" sz="800" dirty="0"/>
          </a:p>
        </p:txBody>
      </p:sp>
      <p:sp>
        <p:nvSpPr>
          <p:cNvPr id="76" name="Shape 70"/>
          <p:cNvSpPr/>
          <p:nvPr/>
        </p:nvSpPr>
        <p:spPr>
          <a:xfrm>
            <a:off x="274320" y="4462272"/>
            <a:ext cx="1664208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274320" y="44714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Ahmed Hassan</a:t>
            </a:r>
            <a:endParaRPr lang="en-US" sz="800" dirty="0"/>
          </a:p>
        </p:txBody>
      </p:sp>
      <p:sp>
        <p:nvSpPr>
          <p:cNvPr id="78" name="Shape 72"/>
          <p:cNvSpPr/>
          <p:nvPr/>
        </p:nvSpPr>
        <p:spPr>
          <a:xfrm>
            <a:off x="1993392" y="4462272"/>
            <a:ext cx="1664208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3"/>
          <p:cNvSpPr/>
          <p:nvPr/>
        </p:nvSpPr>
        <p:spPr>
          <a:xfrm>
            <a:off x="1993392" y="44714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2024001</a:t>
            </a:r>
            <a:endParaRPr lang="en-US" sz="800" dirty="0"/>
          </a:p>
        </p:txBody>
      </p:sp>
      <p:sp>
        <p:nvSpPr>
          <p:cNvPr id="80" name="Shape 74"/>
          <p:cNvSpPr/>
          <p:nvPr/>
        </p:nvSpPr>
        <p:spPr>
          <a:xfrm>
            <a:off x="3712464" y="4462272"/>
            <a:ext cx="1664208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5"/>
          <p:cNvSpPr/>
          <p:nvPr/>
        </p:nvSpPr>
        <p:spPr>
          <a:xfrm>
            <a:off x="3712464" y="44714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CSE</a:t>
            </a:r>
            <a:endParaRPr lang="en-US" sz="800" dirty="0"/>
          </a:p>
        </p:txBody>
      </p:sp>
      <p:sp>
        <p:nvSpPr>
          <p:cNvPr id="82" name="Shape 76"/>
          <p:cNvSpPr/>
          <p:nvPr/>
        </p:nvSpPr>
        <p:spPr>
          <a:xfrm>
            <a:off x="5431536" y="4462272"/>
            <a:ext cx="1664208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7"/>
          <p:cNvSpPr/>
          <p:nvPr/>
        </p:nvSpPr>
        <p:spPr>
          <a:xfrm>
            <a:off x="5431536" y="44714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Assignment 1</a:t>
            </a:r>
            <a:endParaRPr lang="en-US" sz="800" dirty="0"/>
          </a:p>
        </p:txBody>
      </p:sp>
      <p:sp>
        <p:nvSpPr>
          <p:cNvPr id="84" name="Shape 78"/>
          <p:cNvSpPr/>
          <p:nvPr/>
        </p:nvSpPr>
        <p:spPr>
          <a:xfrm>
            <a:off x="7150608" y="4462272"/>
            <a:ext cx="1664208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9"/>
          <p:cNvSpPr/>
          <p:nvPr/>
        </p:nvSpPr>
        <p:spPr>
          <a:xfrm>
            <a:off x="7150608" y="44714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A+</a:t>
            </a:r>
            <a:endParaRPr lang="en-US" sz="800" dirty="0"/>
          </a:p>
        </p:txBody>
      </p:sp>
      <p:sp>
        <p:nvSpPr>
          <p:cNvPr id="86" name="Shape 80"/>
          <p:cNvSpPr/>
          <p:nvPr/>
        </p:nvSpPr>
        <p:spPr>
          <a:xfrm>
            <a:off x="274320" y="4663440"/>
            <a:ext cx="166420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1"/>
          <p:cNvSpPr/>
          <p:nvPr/>
        </p:nvSpPr>
        <p:spPr>
          <a:xfrm>
            <a:off x="274320" y="467258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Sarah Islam</a:t>
            </a:r>
            <a:endParaRPr lang="en-US" sz="800" dirty="0"/>
          </a:p>
        </p:txBody>
      </p:sp>
      <p:sp>
        <p:nvSpPr>
          <p:cNvPr id="88" name="Shape 82"/>
          <p:cNvSpPr/>
          <p:nvPr/>
        </p:nvSpPr>
        <p:spPr>
          <a:xfrm>
            <a:off x="1993392" y="4663440"/>
            <a:ext cx="166420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3"/>
          <p:cNvSpPr/>
          <p:nvPr/>
        </p:nvSpPr>
        <p:spPr>
          <a:xfrm>
            <a:off x="1993392" y="467258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2024002</a:t>
            </a:r>
            <a:endParaRPr lang="en-US" sz="800" dirty="0"/>
          </a:p>
        </p:txBody>
      </p:sp>
      <p:sp>
        <p:nvSpPr>
          <p:cNvPr id="90" name="Shape 84"/>
          <p:cNvSpPr/>
          <p:nvPr/>
        </p:nvSpPr>
        <p:spPr>
          <a:xfrm>
            <a:off x="3712464" y="4663440"/>
            <a:ext cx="166420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5"/>
          <p:cNvSpPr/>
          <p:nvPr/>
        </p:nvSpPr>
        <p:spPr>
          <a:xfrm>
            <a:off x="3712464" y="467258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BBA</a:t>
            </a:r>
            <a:endParaRPr lang="en-US" sz="800" dirty="0"/>
          </a:p>
        </p:txBody>
      </p:sp>
      <p:sp>
        <p:nvSpPr>
          <p:cNvPr id="92" name="Shape 86"/>
          <p:cNvSpPr/>
          <p:nvPr/>
        </p:nvSpPr>
        <p:spPr>
          <a:xfrm>
            <a:off x="5431536" y="4663440"/>
            <a:ext cx="166420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7"/>
          <p:cNvSpPr/>
          <p:nvPr/>
        </p:nvSpPr>
        <p:spPr>
          <a:xfrm>
            <a:off x="5431536" y="467258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Project</a:t>
            </a:r>
            <a:endParaRPr lang="en-US" sz="800" dirty="0"/>
          </a:p>
        </p:txBody>
      </p:sp>
      <p:sp>
        <p:nvSpPr>
          <p:cNvPr id="94" name="Shape 88"/>
          <p:cNvSpPr/>
          <p:nvPr/>
        </p:nvSpPr>
        <p:spPr>
          <a:xfrm>
            <a:off x="7150608" y="4663440"/>
            <a:ext cx="166420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9"/>
          <p:cNvSpPr/>
          <p:nvPr/>
        </p:nvSpPr>
        <p:spPr>
          <a:xfrm>
            <a:off x="7150608" y="467258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</a:t>
            </a:r>
            <a:endParaRPr lang="en-US" sz="800" dirty="0"/>
          </a:p>
        </p:txBody>
      </p:sp>
      <p:sp>
        <p:nvSpPr>
          <p:cNvPr id="96" name="Shape 9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1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2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7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69C0A5">
                  <a:alpha val="16000"/>
                </a:srgbClr>
              </a:gs>
              <a:gs pos="100000">
                <a:srgbClr val="059669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B088F4">
                  <a:alpha val="20000"/>
                </a:srgbClr>
              </a:gs>
              <a:gs pos="100000">
                <a:srgbClr val="7C3AED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65A30D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B088F4">
                  <a:alpha val="12000"/>
                </a:srgbClr>
              </a:gs>
              <a:gs pos="100000">
                <a:srgbClr val="7C3AED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69C0A5">
                  <a:alpha val="14000"/>
                </a:srgbClr>
              </a:gs>
              <a:gs pos="100000">
                <a:srgbClr val="059669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65A30D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059669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059669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Inserting &amp; Managing Images, Shapes &amp; Graphics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Insert Tab · Picture Tools · SmartArt · Drawing · Group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566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9692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Insert Picture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66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Insert → Pictures → Device or Online. Supports JPG, PNG and SVG.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369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0" y="841248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>
            <a:spLocks noGrp="1"/>
          </p:cNvSpPr>
          <p:nvPr/>
        </p:nvSpPr>
        <p:spPr>
          <a:xfrm>
            <a:off x="33284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96926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Resize &amp; Crop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3284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Corner handles to resize. Format → Crop removes unwanted portions.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087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722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172200" y="841248"/>
            <a:ext cx="2834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>
            <a:spLocks noGrp="1"/>
          </p:cNvSpPr>
          <p:nvPr/>
        </p:nvSpPr>
        <p:spPr>
          <a:xfrm>
            <a:off x="63002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96926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574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Text Wrapping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3002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Inline, Square, Tight, Through, Behind Text or In Front of Text.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651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2286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28600" y="2176272"/>
            <a:ext cx="283464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>
            <a:spLocks noGrp="1"/>
          </p:cNvSpPr>
          <p:nvPr/>
        </p:nvSpPr>
        <p:spPr>
          <a:xfrm>
            <a:off x="3566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230428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38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Insert Shapes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566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Lines, rectangles, circles, arrows, flowchart symbols, callouts.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369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2004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3200400" y="2176272"/>
            <a:ext cx="28346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>
            <a:spLocks noGrp="1"/>
          </p:cNvSpPr>
          <p:nvPr/>
        </p:nvSpPr>
        <p:spPr>
          <a:xfrm>
            <a:off x="33284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230428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7856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Format Shapes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33284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Fill color, outline, shadow and 3D effects via Format tab.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2087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1722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6172200" y="2176272"/>
            <a:ext cx="283464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>
            <a:spLocks noGrp="1"/>
          </p:cNvSpPr>
          <p:nvPr/>
        </p:nvSpPr>
        <p:spPr>
          <a:xfrm>
            <a:off x="63002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2304288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7574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SmartArt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63002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Process flows, org charts, cycles — auto-arranged professionally.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2651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2286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228600" y="3511296"/>
            <a:ext cx="28346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>
            <a:spLocks noGrp="1"/>
          </p:cNvSpPr>
          <p:nvPr/>
        </p:nvSpPr>
        <p:spPr>
          <a:xfrm>
            <a:off x="3566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787"/>
              </a:gs>
              <a:gs pos="100000">
                <a:srgbClr val="DC2626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C2626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" y="3639312"/>
            <a:ext cx="274320" cy="27432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138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Charts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3566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Bar, pie, line charts inserted directly. Linked to Excel data.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32369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32004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49"/>
          <p:cNvSpPr/>
          <p:nvPr/>
        </p:nvSpPr>
        <p:spPr>
          <a:xfrm>
            <a:off x="3200400" y="3511296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0"/>
          <p:cNvSpPr>
            <a:spLocks noGrp="1"/>
          </p:cNvSpPr>
          <p:nvPr/>
        </p:nvSpPr>
        <p:spPr>
          <a:xfrm>
            <a:off x="33284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4992" y="3639312"/>
            <a:ext cx="274320" cy="274320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37856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Group Objects</a:t>
            </a:r>
            <a:endParaRPr lang="en-US" sz="1000" dirty="0"/>
          </a:p>
        </p:txBody>
      </p:sp>
      <p:sp>
        <p:nvSpPr>
          <p:cNvPr id="63" name="Text 52"/>
          <p:cNvSpPr/>
          <p:nvPr/>
        </p:nvSpPr>
        <p:spPr>
          <a:xfrm>
            <a:off x="33284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Select multiple → Right-click → Group. Move everything as one unit.</a:t>
            </a:r>
            <a:endParaRPr lang="en-US" sz="950" dirty="0"/>
          </a:p>
        </p:txBody>
      </p:sp>
      <p:sp>
        <p:nvSpPr>
          <p:cNvPr id="64" name="Shape 53"/>
          <p:cNvSpPr/>
          <p:nvPr/>
        </p:nvSpPr>
        <p:spPr>
          <a:xfrm>
            <a:off x="62087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4"/>
          <p:cNvSpPr/>
          <p:nvPr/>
        </p:nvSpPr>
        <p:spPr>
          <a:xfrm>
            <a:off x="61722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5"/>
          <p:cNvSpPr/>
          <p:nvPr/>
        </p:nvSpPr>
        <p:spPr>
          <a:xfrm>
            <a:off x="6172200" y="3511296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6"/>
          <p:cNvSpPr>
            <a:spLocks noGrp="1"/>
          </p:cNvSpPr>
          <p:nvPr/>
        </p:nvSpPr>
        <p:spPr>
          <a:xfrm>
            <a:off x="63002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792" y="3639312"/>
            <a:ext cx="274320" cy="274320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67574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Alt Text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63002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Add accessibility descriptions. Right-click any image → Edit Alt Text.</a:t>
            </a:r>
            <a:endParaRPr lang="en-US" sz="950" dirty="0"/>
          </a:p>
        </p:txBody>
      </p:sp>
      <p:sp>
        <p:nvSpPr>
          <p:cNvPr id="71" name="Shape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0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1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8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B088F4">
                  <a:alpha val="16000"/>
                </a:srgbClr>
              </a:gs>
              <a:gs pos="100000">
                <a:srgbClr val="7C3AED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8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EA7C7C">
                  <a:alpha val="20000"/>
                </a:srgbClr>
              </a:gs>
              <a:gs pos="100000">
                <a:srgbClr val="DC2626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8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C026D3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EA7C7C">
                  <a:alpha val="12000"/>
                </a:srgbClr>
              </a:gs>
              <a:gs pos="100000">
                <a:srgbClr val="DC2626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8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B088F4">
                  <a:alpha val="14000"/>
                </a:srgbClr>
              </a:gs>
              <a:gs pos="100000">
                <a:srgbClr val="7C3AED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8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C026D3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Headers, Footers, Page Numbers &amp; Navigation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Insert Tab · Double-click Margin · Navigation Pane · Ctrl+F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4297680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4297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429768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914400"/>
            <a:ext cx="36576" cy="256032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75FC"/>
                </a:solidFill>
              </a:rPr>
              <a:t>Headers &amp; Footers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243584"/>
            <a:ext cx="4169664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1243584"/>
            <a:ext cx="36576" cy="402336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12801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1CB"/>
                </a:solidFill>
              </a:rPr>
              <a:t>How to Insert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14447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Double-click the top/bottom margin — or Insert → Header → style.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1700784"/>
            <a:ext cx="4169664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" y="1700784"/>
            <a:ext cx="36576" cy="402336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1737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75FC"/>
                </a:solidFill>
              </a:rPr>
              <a:t>Header Content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4048" y="1901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Document title, chapter name, logo, institution name.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2157984"/>
            <a:ext cx="4169664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157984"/>
            <a:ext cx="36576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4048" y="2194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Footer Content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4048" y="23591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Page numbers, author name, date, confidentiality notice.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2615184"/>
            <a:ext cx="4169664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74320" y="2615184"/>
            <a:ext cx="36576" cy="40233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84048" y="26517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Different 1st Page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84048" y="28163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Cover page gets no header/footer while rest of document does.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3072384"/>
            <a:ext cx="4169664" cy="40233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3072384"/>
            <a:ext cx="36576" cy="402336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84048" y="3108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B2777"/>
                </a:solidFill>
              </a:rPr>
              <a:t>Odd &amp; Even Pages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84048" y="3273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Left/right pages get different designs — used in books.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3529584"/>
            <a:ext cx="4169664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74320" y="3529584"/>
            <a:ext cx="36576" cy="40233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84048" y="35661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Remove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84048" y="37307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Double-click area → Select All → Delete → Close Header.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0016" y="886968"/>
            <a:ext cx="4251960" cy="197510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63440" y="841248"/>
            <a:ext cx="4251960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663440" y="841248"/>
            <a:ext cx="425196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91456" y="914400"/>
            <a:ext cx="36576" cy="256032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82896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1CB"/>
                </a:solidFill>
              </a:rPr>
              <a:t>Page Numbers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18304" y="1261872"/>
            <a:ext cx="413308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28032" y="12984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1CB"/>
                </a:solidFill>
              </a:rPr>
              <a:t>Insert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925312" y="1298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Insert → Page Number → Top / Bottom / Margin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718304" y="1609344"/>
            <a:ext cx="413308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828032" y="16459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75FC"/>
                </a:solidFill>
              </a:rPr>
              <a:t>Format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25312" y="16459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Arabic 1,2,3  ·  Roman i,ii,iii  ·  Letters a,b,c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718304" y="1956816"/>
            <a:ext cx="413308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828032" y="19933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Page X of Y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925312" y="1993392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Use PAGE + NUMPAGES fields: 'Page 3 of 15'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718304" y="2304288"/>
            <a:ext cx="413308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828032" y="2340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Remove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925312" y="234086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Insert → Header &amp; Footer → Remove Page Numbers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700016" y="2953512"/>
            <a:ext cx="4251960" cy="19568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4663440" y="2907792"/>
            <a:ext cx="4251960" cy="19568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4663440" y="2907792"/>
            <a:ext cx="42519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4791456" y="2980944"/>
            <a:ext cx="36576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882896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Document Navigation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718304" y="3328416"/>
            <a:ext cx="413308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4718304" y="3328416"/>
            <a:ext cx="676656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4736592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Ctrl+F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486400" y="33649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Find any word — highlights every instance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718304" y="3675888"/>
            <a:ext cx="413308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4718304" y="3675888"/>
            <a:ext cx="676656" cy="2926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4736592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Ctrl+G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486400" y="3712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Go To — jump to specific page, bookmark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4718304" y="4023360"/>
            <a:ext cx="413308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4718304" y="4023360"/>
            <a:ext cx="676656" cy="292608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4736592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Nav Pane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486400" y="4059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View → Navigation Pane — clickable headings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4718304" y="4370832"/>
            <a:ext cx="413308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4718304" y="4370832"/>
            <a:ext cx="676656" cy="292608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4736592" y="4407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Bookmarks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5486400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Insert → Bookmark — mark &amp; return instantly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69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EA7C7C">
                  <a:alpha val="16000"/>
                </a:srgbClr>
              </a:gs>
              <a:gs pos="100000">
                <a:srgbClr val="DC2626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9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6ABDD0">
                  <a:alpha val="20000"/>
                </a:srgbClr>
              </a:gs>
              <a:gs pos="100000">
                <a:srgbClr val="0891B2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9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1D4ED8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6ABDD0">
                  <a:alpha val="12000"/>
                </a:srgbClr>
              </a:gs>
              <a:gs pos="100000">
                <a:srgbClr val="0891B2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9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EA7C7C">
                  <a:alpha val="14000"/>
                </a:srgbClr>
              </a:gs>
              <a:gs pos="100000">
                <a:srgbClr val="DC2626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9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1D4ED8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DC2626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DC2626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Editing Tools — Spell Check, Grammar &amp; Find/Replace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Review Tab · AutoCorrect · Track Changes · Comments · Word Count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8346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566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787"/>
              </a:gs>
              <a:gs pos="100000">
                <a:srgbClr val="DC2626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C2626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9692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F7 — Spell Check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66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Red wavy = spelling. Right-click suggestions. 100+ languages.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369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0" y="841248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>
            <a:spLocks noGrp="1"/>
          </p:cNvSpPr>
          <p:nvPr/>
        </p:nvSpPr>
        <p:spPr>
          <a:xfrm>
            <a:off x="33284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96926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Grammar Check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3284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Blue underlines = grammar. AI Editor improves clarity &amp; style.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08776" y="886968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72200" y="841248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172200" y="841248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>
            <a:spLocks noGrp="1"/>
          </p:cNvSpPr>
          <p:nvPr/>
        </p:nvSpPr>
        <p:spPr>
          <a:xfrm>
            <a:off x="63002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96926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57416" y="9326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Ctrl+F — Find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300216" y="13350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Find any word instantly. All instances highlighted in document.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651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2286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28600" y="2176272"/>
            <a:ext cx="2834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>
            <a:spLocks noGrp="1"/>
          </p:cNvSpPr>
          <p:nvPr/>
        </p:nvSpPr>
        <p:spPr>
          <a:xfrm>
            <a:off x="3566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230428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38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Ctrl+H — Replace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566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Swap 'colour' → 'color' across all 50 occurrences in seconds.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369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2004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3200400" y="2176272"/>
            <a:ext cx="28346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>
            <a:spLocks noGrp="1"/>
          </p:cNvSpPr>
          <p:nvPr/>
        </p:nvSpPr>
        <p:spPr>
          <a:xfrm>
            <a:off x="33284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230428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7856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AutoCorrect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33284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'teh' → 'the' automatically. Add your own custom shortcuts.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208776" y="2221992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172200" y="2176272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6172200" y="2176272"/>
            <a:ext cx="283464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>
            <a:spLocks noGrp="1"/>
          </p:cNvSpPr>
          <p:nvPr/>
        </p:nvSpPr>
        <p:spPr>
          <a:xfrm>
            <a:off x="63002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2304288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757416" y="22677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Track Changes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6300216" y="267004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edit logged: author name + timestamp. Accept or Reject.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2651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2286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228600" y="3511296"/>
            <a:ext cx="283464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>
            <a:spLocks noGrp="1"/>
          </p:cNvSpPr>
          <p:nvPr/>
        </p:nvSpPr>
        <p:spPr>
          <a:xfrm>
            <a:off x="3566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" y="3639312"/>
            <a:ext cx="274320" cy="27432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138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Comments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3566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Threaded margin notes. @mention teammates in shared documents.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32369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32004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49"/>
          <p:cNvSpPr/>
          <p:nvPr/>
        </p:nvSpPr>
        <p:spPr>
          <a:xfrm>
            <a:off x="3200400" y="3511296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0"/>
          <p:cNvSpPr>
            <a:spLocks noGrp="1"/>
          </p:cNvSpPr>
          <p:nvPr/>
        </p:nvSpPr>
        <p:spPr>
          <a:xfrm>
            <a:off x="33284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639312"/>
            <a:ext cx="274320" cy="274320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37856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Read Aloud</a:t>
            </a:r>
            <a:endParaRPr lang="en-US" sz="1000" dirty="0"/>
          </a:p>
        </p:txBody>
      </p:sp>
      <p:sp>
        <p:nvSpPr>
          <p:cNvPr id="63" name="Text 52"/>
          <p:cNvSpPr/>
          <p:nvPr/>
        </p:nvSpPr>
        <p:spPr>
          <a:xfrm>
            <a:off x="33284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Review → Read Aloud. Hear your doc — ears catch what eyes miss.</a:t>
            </a:r>
            <a:endParaRPr lang="en-US" sz="950" dirty="0"/>
          </a:p>
        </p:txBody>
      </p:sp>
      <p:sp>
        <p:nvSpPr>
          <p:cNvPr id="64" name="Shape 53"/>
          <p:cNvSpPr/>
          <p:nvPr/>
        </p:nvSpPr>
        <p:spPr>
          <a:xfrm>
            <a:off x="6208776" y="3557016"/>
            <a:ext cx="28346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4"/>
          <p:cNvSpPr/>
          <p:nvPr/>
        </p:nvSpPr>
        <p:spPr>
          <a:xfrm>
            <a:off x="6172200" y="3511296"/>
            <a:ext cx="28346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5"/>
          <p:cNvSpPr/>
          <p:nvPr/>
        </p:nvSpPr>
        <p:spPr>
          <a:xfrm>
            <a:off x="6172200" y="3511296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6"/>
          <p:cNvSpPr>
            <a:spLocks noGrp="1"/>
          </p:cNvSpPr>
          <p:nvPr/>
        </p:nvSpPr>
        <p:spPr>
          <a:xfrm>
            <a:off x="63002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2" y="3639312"/>
            <a:ext cx="274320" cy="274320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6757416" y="360273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Word Count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6300216" y="4005072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Always visible in Status Bar. Full stats: chars, paragraphs, lines.</a:t>
            </a:r>
            <a:endParaRPr lang="en-US" sz="950" dirty="0"/>
          </a:p>
        </p:txBody>
      </p:sp>
      <p:sp>
        <p:nvSpPr>
          <p:cNvPr id="71" name="Shape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0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1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70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6ABDD0">
                  <a:alpha val="16000"/>
                </a:srgbClr>
              </a:gs>
              <a:gs pos="100000">
                <a:srgbClr val="0891B2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0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A2C76D">
                  <a:alpha val="20000"/>
                </a:srgbClr>
              </a:gs>
              <a:gs pos="100000">
                <a:srgbClr val="65A30D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0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F59E0B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A2C76D">
                  <a:alpha val="12000"/>
                </a:srgbClr>
              </a:gs>
              <a:gs pos="100000">
                <a:srgbClr val="65A30D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0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6ABDD0">
                  <a:alpha val="14000"/>
                </a:srgbClr>
              </a:gs>
              <a:gs pos="100000">
                <a:srgbClr val="0891B2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0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F59E0B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0891B2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0891B2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Templates, Styles &amp; Document Design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Built-in Templates · Heading Styles · Themes · Table of Contents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834640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8346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8346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841248"/>
            <a:ext cx="2834640" cy="438912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896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896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Templates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6616" y="1353312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4632" y="12984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File → New → search library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56616" y="1700784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84632" y="1645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Resume / CV — professional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56616" y="2048256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4632" y="19933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Business Letter — formal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6616" y="2395728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84632" y="23408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Report — with headings &amp; TOC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56616" y="2743200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" y="26883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Newsletter — multi-column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56616" y="3090672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84632" y="303580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Invoice — billing table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56616" y="3438144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4632" y="33832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Flyer — visual marketing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56616" y="3785616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84632" y="37307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Certificate — award design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56616" y="4133088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84632" y="4078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Calendar — planners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56616" y="4480560"/>
            <a:ext cx="54864" cy="54864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84632" y="442569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Save your own as .dotx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236976" y="886968"/>
            <a:ext cx="2834640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3200400" y="841248"/>
            <a:ext cx="28346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3200400" y="841248"/>
            <a:ext cx="28346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3200400" y="841248"/>
            <a:ext cx="2834640" cy="438912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896112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657600" y="896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Heading Styles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3328416" y="1353312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3456432" y="12984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Home → Styles → Heading 1-6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328416" y="1700784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3456432" y="1645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H1: Main titles 16-18pt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328416" y="2048256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3456432" y="19933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H2: Sub-sections 14-16pt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328416" y="2395728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3456432" y="23408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H3: Sub-sub 12-14pt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3328416" y="2743200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3456432" y="26883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Normal: Body text 11-12pt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3328416" y="3090672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3456432" y="303580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Right-click → Modify style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3328416" y="3438144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3456432" y="33832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Style Sets change all at once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3328416" y="3785616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3456432" y="37307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Auto-builds Table of Contents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3328416" y="4133088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3456432" y="4078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Enables Navigation Pane links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3328416" y="4480560"/>
            <a:ext cx="54864" cy="54864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3456432" y="442569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Critical for long documents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6208776" y="886968"/>
            <a:ext cx="2834640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6"/>
          <p:cNvSpPr/>
          <p:nvPr/>
        </p:nvSpPr>
        <p:spPr>
          <a:xfrm>
            <a:off x="6172200" y="841248"/>
            <a:ext cx="28346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7"/>
          <p:cNvSpPr/>
          <p:nvPr/>
        </p:nvSpPr>
        <p:spPr>
          <a:xfrm>
            <a:off x="6172200" y="841248"/>
            <a:ext cx="2834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8"/>
          <p:cNvSpPr/>
          <p:nvPr/>
        </p:nvSpPr>
        <p:spPr>
          <a:xfrm>
            <a:off x="6172200" y="841248"/>
            <a:ext cx="283464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896112"/>
            <a:ext cx="274320" cy="274320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6629400" y="896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Themes &amp; TOC</a:t>
            </a:r>
            <a:endParaRPr lang="en-US" sz="1300" dirty="0"/>
          </a:p>
        </p:txBody>
      </p:sp>
      <p:sp>
        <p:nvSpPr>
          <p:cNvPr id="66" name="Shape 60"/>
          <p:cNvSpPr/>
          <p:nvPr/>
        </p:nvSpPr>
        <p:spPr>
          <a:xfrm>
            <a:off x="6300216" y="1353312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/>
          <p:nvPr/>
        </p:nvSpPr>
        <p:spPr>
          <a:xfrm>
            <a:off x="6428232" y="12984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Design Tab → Themes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6300216" y="1700784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3"/>
          <p:cNvSpPr/>
          <p:nvPr/>
        </p:nvSpPr>
        <p:spPr>
          <a:xfrm>
            <a:off x="6428232" y="1645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One click: all colors change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6300216" y="2048256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5"/>
          <p:cNvSpPr/>
          <p:nvPr/>
        </p:nvSpPr>
        <p:spPr>
          <a:xfrm>
            <a:off x="6428232" y="199339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Colors → swap palette now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6300216" y="2395728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7"/>
          <p:cNvSpPr/>
          <p:nvPr/>
        </p:nvSpPr>
        <p:spPr>
          <a:xfrm>
            <a:off x="6428232" y="23408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Fonts → pair heading + body</a:t>
            </a:r>
            <a:endParaRPr lang="en-US" sz="900" dirty="0"/>
          </a:p>
        </p:txBody>
      </p:sp>
      <p:sp>
        <p:nvSpPr>
          <p:cNvPr id="74" name="Shape 68"/>
          <p:cNvSpPr/>
          <p:nvPr/>
        </p:nvSpPr>
        <p:spPr>
          <a:xfrm>
            <a:off x="6300216" y="2743200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/>
          <p:nvPr/>
        </p:nvSpPr>
        <p:spPr>
          <a:xfrm>
            <a:off x="6428232" y="26883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Page Color → background</a:t>
            </a:r>
            <a:endParaRPr lang="en-US" sz="900" dirty="0"/>
          </a:p>
        </p:txBody>
      </p:sp>
      <p:sp>
        <p:nvSpPr>
          <p:cNvPr id="76" name="Shape 70"/>
          <p:cNvSpPr/>
          <p:nvPr/>
        </p:nvSpPr>
        <p:spPr>
          <a:xfrm>
            <a:off x="6300216" y="3090672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6428232" y="303580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Watermark → DRAFT / custom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6300216" y="3438144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3"/>
          <p:cNvSpPr/>
          <p:nvPr/>
        </p:nvSpPr>
        <p:spPr>
          <a:xfrm>
            <a:off x="6428232" y="33832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References → Table of Contents</a:t>
            </a:r>
            <a:endParaRPr lang="en-US" sz="900" dirty="0"/>
          </a:p>
        </p:txBody>
      </p:sp>
      <p:sp>
        <p:nvSpPr>
          <p:cNvPr id="80" name="Shape 74"/>
          <p:cNvSpPr/>
          <p:nvPr/>
        </p:nvSpPr>
        <p:spPr>
          <a:xfrm>
            <a:off x="6300216" y="3785616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5"/>
          <p:cNvSpPr/>
          <p:nvPr/>
        </p:nvSpPr>
        <p:spPr>
          <a:xfrm>
            <a:off x="6428232" y="37307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Clickable links in digital docs</a:t>
            </a:r>
            <a:endParaRPr lang="en-US" sz="900" dirty="0"/>
          </a:p>
        </p:txBody>
      </p:sp>
      <p:sp>
        <p:nvSpPr>
          <p:cNvPr id="82" name="Shape 76"/>
          <p:cNvSpPr/>
          <p:nvPr/>
        </p:nvSpPr>
        <p:spPr>
          <a:xfrm>
            <a:off x="6300216" y="4133088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7"/>
          <p:cNvSpPr/>
          <p:nvPr/>
        </p:nvSpPr>
        <p:spPr>
          <a:xfrm>
            <a:off x="6428232" y="4078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Right-click → Update Field</a:t>
            </a:r>
            <a:endParaRPr lang="en-US" sz="900" dirty="0"/>
          </a:p>
        </p:txBody>
      </p:sp>
      <p:sp>
        <p:nvSpPr>
          <p:cNvPr id="84" name="Shape 78"/>
          <p:cNvSpPr/>
          <p:nvPr/>
        </p:nvSpPr>
        <p:spPr>
          <a:xfrm>
            <a:off x="6300216" y="4480560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79"/>
          <p:cNvSpPr/>
          <p:nvPr/>
        </p:nvSpPr>
        <p:spPr>
          <a:xfrm>
            <a:off x="6428232" y="442569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Custom levels &amp; formatting</a:t>
            </a:r>
            <a:endParaRPr lang="en-US" sz="900" dirty="0"/>
          </a:p>
        </p:txBody>
      </p:sp>
      <p:sp>
        <p:nvSpPr>
          <p:cNvPr id="86" name="Shape 8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1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2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71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A2C76D">
                  <a:alpha val="16000"/>
                </a:srgbClr>
              </a:gs>
              <a:gs pos="100000">
                <a:srgbClr val="65A30D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1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D97CE4">
                  <a:alpha val="20000"/>
                </a:srgbClr>
              </a:gs>
              <a:gs pos="100000">
                <a:srgbClr val="C026D3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1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10B981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D97CE4">
                  <a:alpha val="12000"/>
                </a:srgbClr>
              </a:gs>
              <a:gs pos="100000">
                <a:srgbClr val="C026D3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1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A2C76D">
                  <a:alpha val="14000"/>
                </a:srgbClr>
              </a:gs>
              <a:gs pos="100000">
                <a:srgbClr val="65A30D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1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10B981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65A30D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65A30D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65A30D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90500" dist="95250" dir="5400000" algn="ctr" rotWithShape="0">
              <a:srgbClr val="D97706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Mail Merge &amp; Document Automation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Mailings Tab · Excel Data Source · Fields · Preview · Output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56032" y="1719072"/>
            <a:ext cx="8631936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59536" y="1572768"/>
            <a:ext cx="274320" cy="274320"/>
          </a:xfrm>
          <a:prstGeom prst="line">
            <a:avLst/>
          </a:prstGeom>
          <a:solidFill>
            <a:srgbClr val="6A11CB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1627632" cy="16276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37744" y="1920240"/>
            <a:ext cx="162763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7744" y="1920240"/>
            <a:ext cx="1627632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7744" y="1920240"/>
            <a:ext cx="1627632" cy="310896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10896" y="19568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Merge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9184" y="230428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Mailings → Start Mail Merge → Letters / Envelopes / Emails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96896" y="1572768"/>
            <a:ext cx="274320" cy="274320"/>
          </a:xfrm>
          <a:prstGeom prst="line">
            <a:avLst/>
          </a:prstGeom>
          <a:solidFill>
            <a:srgbClr val="2575FC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96896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011680" y="1965960"/>
            <a:ext cx="1627632" cy="16276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975104" y="1920240"/>
            <a:ext cx="162763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975104" y="1920240"/>
            <a:ext cx="1627632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975104" y="1920240"/>
            <a:ext cx="1627632" cy="310896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048256" y="19568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Select Data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066544" y="230428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Link Excel list — each row becomes one personalised document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34256" y="1572768"/>
            <a:ext cx="274320" cy="274320"/>
          </a:xfrm>
          <a:prstGeom prst="line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334256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49040" y="1965960"/>
            <a:ext cx="1627632" cy="16276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712464" y="1920240"/>
            <a:ext cx="162763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712464" y="1920240"/>
            <a:ext cx="1627632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712464" y="1920240"/>
            <a:ext cx="1627632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785616" y="19568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Fields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803904" y="230428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Place «FirstName» «Address» merge fields in document body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071616" y="1572768"/>
            <a:ext cx="274320" cy="274320"/>
          </a:xfrm>
          <a:prstGeom prst="line">
            <a:avLst/>
          </a:prstGeom>
          <a:solidFill>
            <a:srgbClr val="EA580C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071616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0" y="1965960"/>
            <a:ext cx="1627632" cy="16276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449824" y="1920240"/>
            <a:ext cx="162763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449824" y="1920240"/>
            <a:ext cx="1627632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449824" y="1920240"/>
            <a:ext cx="1627632" cy="3108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522976" y="19568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Preview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541264" y="230428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Check each record looks correct before final output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808976" y="1572768"/>
            <a:ext cx="274320" cy="274320"/>
          </a:xfrm>
          <a:prstGeom prst="line">
            <a:avLst/>
          </a:prstGeom>
          <a:solidFill>
            <a:srgbClr val="059669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808976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223760" y="1965960"/>
            <a:ext cx="1627632" cy="16276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187184" y="1920240"/>
            <a:ext cx="162763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187184" y="1920240"/>
            <a:ext cx="1627632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7187184" y="1920240"/>
            <a:ext cx="1627632" cy="3108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260336" y="19568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Finish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278624" y="230428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Print all / Save files / Send bulk emails in one action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265176" y="3721608"/>
            <a:ext cx="8686800" cy="1188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228600" y="3675888"/>
            <a:ext cx="8686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228600" y="3675888"/>
            <a:ext cx="86868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365760" y="3749040"/>
            <a:ext cx="36576" cy="2560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Document Automation Tools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292608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▶ 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475488" y="4023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Macros: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527048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Record tasks, replay with one key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20040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▶ 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3383280" y="4023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AutoText: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434840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Store phrases for quick insert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108192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▶ 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91072" y="4023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Building Blocks: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342632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Reusable headers, footers, covers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292608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▶ 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475488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Date/Time Fields: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527048" y="4389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Always shows current date/time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00400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▶ 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3383280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Compare Docs: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4434840" y="4389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Review → Compare versions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6108192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▶ 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6291072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Form Fields: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342632" y="4389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Structured fill-in data entry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72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D97CE4">
                  <a:alpha val="16000"/>
                </a:srgbClr>
              </a:gs>
              <a:gs pos="100000">
                <a:srgbClr val="C026D3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7794E7">
                  <a:alpha val="20000"/>
                </a:srgbClr>
              </a:gs>
              <a:gs pos="100000">
                <a:srgbClr val="1D4ED8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6A11CB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7794E7">
                  <a:alpha val="12000"/>
                </a:srgbClr>
              </a:gs>
              <a:gs pos="100000">
                <a:srgbClr val="1D4ED8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D97CE4">
                  <a:alpha val="14000"/>
                </a:srgbClr>
              </a:gs>
              <a:gs pos="100000">
                <a:srgbClr val="C026D3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6A11CB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C026D3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C026D3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C026D3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 Tools in Word Processors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Track Changes · Comments · Co-Authoring · Share · Version History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42062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420624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56616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9692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" y="93268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File Sharing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6616" y="1335024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File → Share → People → set Edit or View-only permission link.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27448" y="886968"/>
            <a:ext cx="42062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90872" y="8412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90872" y="841248"/>
            <a:ext cx="420624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>
            <a:spLocks noGrp="1"/>
          </p:cNvSpPr>
          <p:nvPr/>
        </p:nvSpPr>
        <p:spPr>
          <a:xfrm>
            <a:off x="4818888" y="932688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96926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76088" y="93268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Co-Authoring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18888" y="1335024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Multiple users type simultaneously. Changes appear live in real-time.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65176" y="2221992"/>
            <a:ext cx="42062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228600" y="2176272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28600" y="2176272"/>
            <a:ext cx="42062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>
            <a:spLocks noGrp="1"/>
          </p:cNvSpPr>
          <p:nvPr/>
        </p:nvSpPr>
        <p:spPr>
          <a:xfrm>
            <a:off x="356616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230428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3816" y="226771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Track Changes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" y="2670048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edit logged with author name and timestamp. Accept or Reject.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727448" y="2221992"/>
            <a:ext cx="42062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90872" y="2176272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690872" y="2176272"/>
            <a:ext cx="420624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>
            <a:spLocks noGrp="1"/>
          </p:cNvSpPr>
          <p:nvPr/>
        </p:nvSpPr>
        <p:spPr>
          <a:xfrm>
            <a:off x="4818888" y="2267712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230428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76088" y="226771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Comments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818888" y="2670048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Threaded margin discussions. @mention teammates to notify instantly.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265176" y="3557016"/>
            <a:ext cx="42062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228600" y="3511296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228600" y="3511296"/>
            <a:ext cx="42062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>
            <a:spLocks noGrp="1"/>
          </p:cNvSpPr>
          <p:nvPr/>
        </p:nvSpPr>
        <p:spPr>
          <a:xfrm>
            <a:off x="356616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3639312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13816" y="360273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Version History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356616" y="400507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File → Info → Version History. Restore any previous saved version.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727448" y="3557016"/>
            <a:ext cx="4206240" cy="12070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690872" y="3511296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4690872" y="3511296"/>
            <a:ext cx="420624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>
            <a:spLocks noGrp="1"/>
          </p:cNvSpPr>
          <p:nvPr/>
        </p:nvSpPr>
        <p:spPr>
          <a:xfrm>
            <a:off x="4818888" y="3602736"/>
            <a:ext cx="347472" cy="347472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464" y="3639312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276088" y="360273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Restrict Editing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4818888" y="400507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Review → Restrict Editing. Block text changes — allow comments only.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265176" y="4636008"/>
            <a:ext cx="86868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228600" y="4590288"/>
            <a:ext cx="868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228600" y="4590288"/>
            <a:ext cx="868680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/>
          <p:nvPr/>
        </p:nvSpPr>
        <p:spPr>
          <a:xfrm>
            <a:off x="347472" y="46268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75FC"/>
                </a:solidFill>
              </a:rPr>
              <a:t>Platforms: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1444752" y="4608576"/>
            <a:ext cx="1755648" cy="21945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1444752" y="4608576"/>
            <a:ext cx="1755648" cy="36576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/>
          <p:nvPr/>
        </p:nvSpPr>
        <p:spPr>
          <a:xfrm>
            <a:off x="1481328" y="46634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Word Online — Free, browser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3310128" y="4608576"/>
            <a:ext cx="1755648" cy="21945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9"/>
          <p:cNvSpPr/>
          <p:nvPr/>
        </p:nvSpPr>
        <p:spPr>
          <a:xfrm>
            <a:off x="3310128" y="4608576"/>
            <a:ext cx="1755648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/>
          <p:nvPr/>
        </p:nvSpPr>
        <p:spPr>
          <a:xfrm>
            <a:off x="3346704" y="46634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Google Docs — Real-time, free</a:t>
            </a:r>
            <a:endParaRPr lang="en-US" sz="850" dirty="0"/>
          </a:p>
        </p:txBody>
      </p:sp>
      <p:sp>
        <p:nvSpPr>
          <p:cNvPr id="60" name="Shape 51"/>
          <p:cNvSpPr/>
          <p:nvPr/>
        </p:nvSpPr>
        <p:spPr>
          <a:xfrm>
            <a:off x="5175504" y="4608576"/>
            <a:ext cx="1755648" cy="21945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2"/>
          <p:cNvSpPr/>
          <p:nvPr/>
        </p:nvSpPr>
        <p:spPr>
          <a:xfrm>
            <a:off x="5175504" y="4608576"/>
            <a:ext cx="1755648" cy="36576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/>
          <p:nvPr/>
        </p:nvSpPr>
        <p:spPr>
          <a:xfrm>
            <a:off x="5212080" y="46634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OneDrive — Link sharing</a:t>
            </a:r>
            <a:endParaRPr lang="en-US" sz="850" dirty="0"/>
          </a:p>
        </p:txBody>
      </p:sp>
      <p:sp>
        <p:nvSpPr>
          <p:cNvPr id="63" name="Shape 54"/>
          <p:cNvSpPr/>
          <p:nvPr/>
        </p:nvSpPr>
        <p:spPr>
          <a:xfrm>
            <a:off x="7040880" y="4608576"/>
            <a:ext cx="1755648" cy="21945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55"/>
          <p:cNvSpPr/>
          <p:nvPr/>
        </p:nvSpPr>
        <p:spPr>
          <a:xfrm>
            <a:off x="7040880" y="4608576"/>
            <a:ext cx="1755648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6"/>
          <p:cNvSpPr/>
          <p:nvPr/>
        </p:nvSpPr>
        <p:spPr>
          <a:xfrm>
            <a:off x="7077456" y="46634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SharePoint — Enterprise</a:t>
            </a:r>
            <a:endParaRPr lang="en-US" sz="850" dirty="0"/>
          </a:p>
        </p:txBody>
      </p:sp>
      <p:sp>
        <p:nvSpPr>
          <p:cNvPr id="66" name="Shape 5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8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73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7794E7">
                  <a:alpha val="16000"/>
                </a:srgbClr>
              </a:gs>
              <a:gs pos="100000">
                <a:srgbClr val="1D4ED8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3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F9C46C">
                  <a:alpha val="20000"/>
                </a:srgbClr>
              </a:gs>
              <a:gs pos="100000">
                <a:srgbClr val="F59E0B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3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2575FC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F9C46C">
                  <a:alpha val="12000"/>
                </a:srgbClr>
              </a:gs>
              <a:gs pos="100000">
                <a:srgbClr val="F59E0B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3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7794E7">
                  <a:alpha val="14000"/>
                </a:srgbClr>
              </a:gs>
              <a:gs pos="100000">
                <a:srgbClr val="1D4ED8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3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2575FC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1D4ED8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1D4ED8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1D4ED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Management, Saving, Exporting &amp; Printing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Save Formats · AutoSave · Export · Print Preview · Distribution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487168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48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487168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" y="841248"/>
            <a:ext cx="2487168" cy="310896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88696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.docx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0040" y="122529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Default Word format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98648" y="886968"/>
            <a:ext cx="2487168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862072" y="841248"/>
            <a:ext cx="248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862072" y="841248"/>
            <a:ext cx="2487168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862072" y="841248"/>
            <a:ext cx="2487168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953512" y="88696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.pdf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953512" y="122529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Final sharing format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5176" y="1929384"/>
            <a:ext cx="2487168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28600" y="1883664"/>
            <a:ext cx="248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" y="1883664"/>
            <a:ext cx="2487168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28600" y="1883664"/>
            <a:ext cx="2487168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192938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.odt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20040" y="2267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Open-source format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898648" y="1929384"/>
            <a:ext cx="2487168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862072" y="1883664"/>
            <a:ext cx="248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862072" y="1883664"/>
            <a:ext cx="2487168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862072" y="1883664"/>
            <a:ext cx="2487168" cy="31089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953512" y="192938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.txt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953512" y="2267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Plain text only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65176" y="2971800"/>
            <a:ext cx="2487168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228600" y="2926080"/>
            <a:ext cx="248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28600" y="2926080"/>
            <a:ext cx="2487168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28600" y="2926080"/>
            <a:ext cx="2487168" cy="3108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20040" y="29718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.html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320040" y="331012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Web page format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898648" y="2971800"/>
            <a:ext cx="2487168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862072" y="2926080"/>
            <a:ext cx="248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862072" y="2926080"/>
            <a:ext cx="2487168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2862072" y="2926080"/>
            <a:ext cx="2487168" cy="310896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953512" y="29718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.dotx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2953512" y="331012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Template format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650992" y="886968"/>
            <a:ext cx="3300984" cy="4023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5614416" y="841248"/>
            <a:ext cx="330098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614416" y="841248"/>
            <a:ext cx="3300984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742432" y="914400"/>
            <a:ext cx="36576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833872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Saving &amp; Printing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669280" y="1261872"/>
            <a:ext cx="318211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669280" y="1261872"/>
            <a:ext cx="676656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687568" y="1298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Ctrl+S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437376" y="129844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Save current file instantly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669280" y="1591056"/>
            <a:ext cx="3182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669280" y="1591056"/>
            <a:ext cx="676656" cy="2743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5687568" y="16276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F12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437376" y="16276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Save As — new name or location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669280" y="1920240"/>
            <a:ext cx="318211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5669280" y="1920240"/>
            <a:ext cx="676656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687568" y="19568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AutoSave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437376" y="19568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OneDrive: saves every few seconds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5669280" y="2249424"/>
            <a:ext cx="3182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5669280" y="2249424"/>
            <a:ext cx="676656" cy="2743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5687568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AutoRecover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437376" y="22860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Crash backup every 5 minutes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669280" y="2578608"/>
            <a:ext cx="318211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5669280" y="2578608"/>
            <a:ext cx="676656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5687568" y="26151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Export PDF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6437376" y="26151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File → Export → Create PDF/XPS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5669280" y="2907792"/>
            <a:ext cx="3182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5669280" y="2907792"/>
            <a:ext cx="676656" cy="2743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5687568" y="2944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Ctrl+P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6437376" y="294436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Print Preview — check before printing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5669280" y="3236976"/>
            <a:ext cx="318211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5669280" y="3236976"/>
            <a:ext cx="676656" cy="2743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5687568" y="32735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Print Settings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6437376" y="327355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Printer, page range, duplex, size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5669280" y="3566160"/>
            <a:ext cx="318211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5669280" y="3566160"/>
            <a:ext cx="676656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5687568" y="3602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Print to PDF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6437376" y="360273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Microsoft Print to PDF printer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5669280" y="3895344"/>
            <a:ext cx="318211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5669280" y="3895344"/>
            <a:ext cx="676656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5687568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Email Doc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6437376" y="39319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File → Share → Send as PDF/Word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74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F9C46C">
                  <a:alpha val="16000"/>
                </a:srgbClr>
              </a:gs>
              <a:gs pos="100000">
                <a:srgbClr val="F59E0B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4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6FD5B3">
                  <a:alpha val="20000"/>
                </a:srgbClr>
              </a:gs>
              <a:gs pos="100000">
                <a:srgbClr val="10B981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4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DB2777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6FD5B3">
                  <a:alpha val="12000"/>
                </a:srgbClr>
              </a:gs>
              <a:gs pos="100000">
                <a:srgbClr val="10B981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4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F9C46C">
                  <a:alpha val="14000"/>
                </a:srgbClr>
              </a:gs>
              <a:gs pos="100000">
                <a:srgbClr val="F59E0B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4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DB2777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F59E0B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F59E0B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" y="91440"/>
            <a:ext cx="475488" cy="530352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EAB476"/>
              </a:gs>
              <a:gs pos="100000">
                <a:srgbClr val="D97706"/>
              </a:gs>
            </a:gsLst>
            <a:lin ang="13500000" scaled="0"/>
          </a:gradFill>
          <a:ln w="9525">
            <a:solidFill>
              <a:srgbClr val="FFFFFF">
                <a:alpha val="25000"/>
              </a:srgbClr>
            </a:solidFill>
          </a:ln>
          <a:effectLst>
            <a:outerShdw blurRad="152400" dist="76200" dir="5400000" algn="ctr" rotWithShape="0">
              <a:srgbClr val="D97706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64592" y="914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8096" y="91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Real-World Applications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68096" y="4389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9 Key Benefits  ·  10 Application Sectors  ·  Conclusion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5176" y="886968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841248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841248"/>
            <a:ext cx="210312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38328" y="932688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9692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" y="93268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Speed &amp; Efficiency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8328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10× faster than typewriting. Edit freely at any point.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496312" y="886968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459736" y="841248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459736" y="841248"/>
            <a:ext cx="210312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>
            <a:spLocks noGrp="1"/>
          </p:cNvSpPr>
          <p:nvPr/>
        </p:nvSpPr>
        <p:spPr>
          <a:xfrm>
            <a:off x="2569464" y="932688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96926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71800" y="93268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Error Correction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569464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Auto spell &amp; grammar check ensures error-free, polished docs.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727448" y="886968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90872" y="841248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690872" y="841248"/>
            <a:ext cx="21031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>
            <a:spLocks noGrp="1"/>
          </p:cNvSpPr>
          <p:nvPr/>
        </p:nvSpPr>
        <p:spPr>
          <a:xfrm>
            <a:off x="4800600" y="932688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9C4BD"/>
              </a:gs>
              <a:gs pos="100000">
                <a:srgbClr val="0D9488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969264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02936" y="93268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Easy Editing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00600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Cut/Copy/Paste/Undo — rewrite anything without starting over.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265176" y="2093976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228600" y="2048256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28600" y="2048256"/>
            <a:ext cx="210312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>
            <a:spLocks noGrp="1"/>
          </p:cNvSpPr>
          <p:nvPr/>
        </p:nvSpPr>
        <p:spPr>
          <a:xfrm>
            <a:off x="338328" y="2139696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75C5AC"/>
              </a:gs>
              <a:gs pos="100000">
                <a:srgbClr val="059669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059669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" y="217627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0664" y="21396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Templates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38328" y="25054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Save hours with ready-made CV, report and letter layouts.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2496312" y="2093976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2459736" y="2048256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2459736" y="2048256"/>
            <a:ext cx="210312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>
            <a:spLocks noGrp="1"/>
          </p:cNvSpPr>
          <p:nvPr/>
        </p:nvSpPr>
        <p:spPr>
          <a:xfrm>
            <a:off x="2569464" y="2139696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F3A379"/>
              </a:gs>
              <a:gs pos="100000">
                <a:srgbClr val="EA580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EA580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2176272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971800" y="21396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Collaboration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2569464" y="25054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Multiple users edit the same file live from anywhere globally.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4727448" y="2093976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690872" y="2048256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4690872" y="2048256"/>
            <a:ext cx="210312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>
            <a:spLocks noGrp="1"/>
          </p:cNvSpPr>
          <p:nvPr/>
        </p:nvSpPr>
        <p:spPr>
          <a:xfrm>
            <a:off x="4800600" y="2139696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8B4"/>
              </a:gs>
              <a:gs pos="100000">
                <a:srgbClr val="DB2777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B2777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7176" y="2176272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202936" y="21396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Cloud Access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4800600" y="25054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Open documents on any device, place or time via OneDrive.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265176" y="3300984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228600" y="3255264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228600" y="3255264"/>
            <a:ext cx="210312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>
            <a:spLocks noGrp="1"/>
          </p:cNvSpPr>
          <p:nvPr/>
        </p:nvSpPr>
        <p:spPr>
          <a:xfrm>
            <a:off x="338328" y="3346704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B8787"/>
              </a:gs>
              <a:gs pos="100000">
                <a:srgbClr val="DC2626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DC2626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" y="3383280"/>
            <a:ext cx="237744" cy="23774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40664" y="33467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Mail Merge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338328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500 personalised letters in minutes — fully automated.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2496312" y="3300984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2459736" y="3255264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49"/>
          <p:cNvSpPr/>
          <p:nvPr/>
        </p:nvSpPr>
        <p:spPr>
          <a:xfrm>
            <a:off x="2459736" y="3255264"/>
            <a:ext cx="2103120" cy="45720"/>
          </a:xfrm>
          <a:prstGeom prst="rect">
            <a:avLst/>
          </a:prstGeom>
          <a:solidFill>
            <a:srgbClr val="6A1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0"/>
          <p:cNvSpPr>
            <a:spLocks noGrp="1"/>
          </p:cNvSpPr>
          <p:nvPr/>
        </p:nvSpPr>
        <p:spPr>
          <a:xfrm>
            <a:off x="2569464" y="3346704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AD7CE2"/>
              </a:gs>
              <a:gs pos="100000">
                <a:srgbClr val="6A11CB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6A11CB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6040" y="3383280"/>
            <a:ext cx="237744" cy="237744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2971800" y="33467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Pro Output</a:t>
            </a:r>
            <a:endParaRPr lang="en-US" sz="1000" dirty="0"/>
          </a:p>
        </p:txBody>
      </p:sp>
      <p:sp>
        <p:nvSpPr>
          <p:cNvPr id="63" name="Text 52"/>
          <p:cNvSpPr/>
          <p:nvPr/>
        </p:nvSpPr>
        <p:spPr>
          <a:xfrm>
            <a:off x="2569464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Publication-quality documents that look designed not typed.</a:t>
            </a:r>
            <a:endParaRPr lang="en-US" sz="850" dirty="0"/>
          </a:p>
        </p:txBody>
      </p:sp>
      <p:sp>
        <p:nvSpPr>
          <p:cNvPr id="64" name="Shape 53"/>
          <p:cNvSpPr/>
          <p:nvPr/>
        </p:nvSpPr>
        <p:spPr>
          <a:xfrm>
            <a:off x="4727448" y="3300984"/>
            <a:ext cx="2103120" cy="1078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4"/>
          <p:cNvSpPr/>
          <p:nvPr/>
        </p:nvSpPr>
        <p:spPr>
          <a:xfrm>
            <a:off x="4690872" y="3255264"/>
            <a:ext cx="21031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5"/>
          <p:cNvSpPr/>
          <p:nvPr/>
        </p:nvSpPr>
        <p:spPr>
          <a:xfrm>
            <a:off x="4690872" y="3255264"/>
            <a:ext cx="2103120" cy="45720"/>
          </a:xfrm>
          <a:prstGeom prst="rect">
            <a:avLst/>
          </a:prstGeom>
          <a:solidFill>
            <a:srgbClr val="257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6"/>
          <p:cNvSpPr>
            <a:spLocks noGrp="1"/>
          </p:cNvSpPr>
          <p:nvPr/>
        </p:nvSpPr>
        <p:spPr>
          <a:xfrm>
            <a:off x="4800600" y="3346704"/>
            <a:ext cx="310896" cy="310896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87B3FD"/>
              </a:gs>
              <a:gs pos="100000">
                <a:srgbClr val="2575FC"/>
              </a:gs>
            </a:gsLst>
            <a:lin ang="13500000" scaled="0"/>
          </a:gradFill>
          <a:ln w="9525">
            <a:solidFill>
              <a:srgbClr val="FFFFFF">
                <a:alpha val="30000"/>
              </a:srgbClr>
            </a:solidFill>
          </a:ln>
          <a:effectLst>
            <a:outerShdw blurRad="152400" dist="76200" dir="5400000" algn="ctr" rotWithShape="0">
              <a:srgbClr val="2575FC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7176" y="3383280"/>
            <a:ext cx="237744" cy="237744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5202936" y="33467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Cost Saving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4800600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Less paper, printing and storage — digital-first workflow.</a:t>
            </a:r>
            <a:endParaRPr lang="en-US" sz="850" dirty="0"/>
          </a:p>
        </p:txBody>
      </p:sp>
      <p:sp>
        <p:nvSpPr>
          <p:cNvPr id="71" name="Shape 59"/>
          <p:cNvSpPr/>
          <p:nvPr/>
        </p:nvSpPr>
        <p:spPr>
          <a:xfrm>
            <a:off x="6931152" y="886968"/>
            <a:ext cx="2020824" cy="362102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0"/>
          <p:cNvSpPr/>
          <p:nvPr/>
        </p:nvSpPr>
        <p:spPr>
          <a:xfrm>
            <a:off x="6894576" y="841248"/>
            <a:ext cx="2020824" cy="3621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61"/>
          <p:cNvSpPr/>
          <p:nvPr/>
        </p:nvSpPr>
        <p:spPr>
          <a:xfrm>
            <a:off x="6894576" y="841248"/>
            <a:ext cx="2020824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62"/>
          <p:cNvSpPr/>
          <p:nvPr/>
        </p:nvSpPr>
        <p:spPr>
          <a:xfrm>
            <a:off x="6894576" y="841248"/>
            <a:ext cx="2020824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3"/>
          <p:cNvSpPr/>
          <p:nvPr/>
        </p:nvSpPr>
        <p:spPr>
          <a:xfrm>
            <a:off x="6967728" y="85953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Applications</a:t>
            </a:r>
            <a:endParaRPr lang="en-US" sz="1100" dirty="0"/>
          </a:p>
        </p:txBody>
      </p:sp>
      <p:sp>
        <p:nvSpPr>
          <p:cNvPr id="76" name="Shape 64"/>
          <p:cNvSpPr/>
          <p:nvPr/>
        </p:nvSpPr>
        <p:spPr>
          <a:xfrm>
            <a:off x="6949440" y="1207008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65"/>
          <p:cNvSpPr/>
          <p:nvPr/>
        </p:nvSpPr>
        <p:spPr>
          <a:xfrm>
            <a:off x="7077456" y="11521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Academic</a:t>
            </a:r>
            <a:endParaRPr lang="en-US" sz="950" dirty="0"/>
          </a:p>
        </p:txBody>
      </p:sp>
      <p:sp>
        <p:nvSpPr>
          <p:cNvPr id="78" name="Shape 66"/>
          <p:cNvSpPr/>
          <p:nvPr/>
        </p:nvSpPr>
        <p:spPr>
          <a:xfrm>
            <a:off x="6949440" y="1426464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67"/>
          <p:cNvSpPr/>
          <p:nvPr/>
        </p:nvSpPr>
        <p:spPr>
          <a:xfrm>
            <a:off x="7077456" y="1371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Business</a:t>
            </a:r>
            <a:endParaRPr lang="en-US" sz="950" dirty="0"/>
          </a:p>
        </p:txBody>
      </p:sp>
      <p:sp>
        <p:nvSpPr>
          <p:cNvPr id="80" name="Shape 68"/>
          <p:cNvSpPr/>
          <p:nvPr/>
        </p:nvSpPr>
        <p:spPr>
          <a:xfrm>
            <a:off x="6949440" y="1645920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69"/>
          <p:cNvSpPr/>
          <p:nvPr/>
        </p:nvSpPr>
        <p:spPr>
          <a:xfrm>
            <a:off x="7077456" y="15910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Legal</a:t>
            </a:r>
            <a:endParaRPr lang="en-US" sz="950" dirty="0"/>
          </a:p>
        </p:txBody>
      </p:sp>
      <p:sp>
        <p:nvSpPr>
          <p:cNvPr id="82" name="Shape 70"/>
          <p:cNvSpPr/>
          <p:nvPr/>
        </p:nvSpPr>
        <p:spPr>
          <a:xfrm>
            <a:off x="6949440" y="1865376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1"/>
          <p:cNvSpPr/>
          <p:nvPr/>
        </p:nvSpPr>
        <p:spPr>
          <a:xfrm>
            <a:off x="7077456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Medical</a:t>
            </a:r>
            <a:endParaRPr lang="en-US" sz="950" dirty="0"/>
          </a:p>
        </p:txBody>
      </p:sp>
      <p:sp>
        <p:nvSpPr>
          <p:cNvPr id="84" name="Shape 72"/>
          <p:cNvSpPr/>
          <p:nvPr/>
        </p:nvSpPr>
        <p:spPr>
          <a:xfrm>
            <a:off x="6949440" y="2084832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73"/>
          <p:cNvSpPr/>
          <p:nvPr/>
        </p:nvSpPr>
        <p:spPr>
          <a:xfrm>
            <a:off x="7077456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Education</a:t>
            </a:r>
            <a:endParaRPr lang="en-US" sz="950" dirty="0"/>
          </a:p>
        </p:txBody>
      </p:sp>
      <p:sp>
        <p:nvSpPr>
          <p:cNvPr id="86" name="Shape 74"/>
          <p:cNvSpPr/>
          <p:nvPr/>
        </p:nvSpPr>
        <p:spPr>
          <a:xfrm>
            <a:off x="6949440" y="2304288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5"/>
          <p:cNvSpPr/>
          <p:nvPr/>
        </p:nvSpPr>
        <p:spPr>
          <a:xfrm>
            <a:off x="7077456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Technical</a:t>
            </a:r>
            <a:endParaRPr lang="en-US" sz="950" dirty="0"/>
          </a:p>
        </p:txBody>
      </p:sp>
      <p:sp>
        <p:nvSpPr>
          <p:cNvPr id="88" name="Shape 76"/>
          <p:cNvSpPr/>
          <p:nvPr/>
        </p:nvSpPr>
        <p:spPr>
          <a:xfrm>
            <a:off x="6949440" y="2523744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77"/>
          <p:cNvSpPr/>
          <p:nvPr/>
        </p:nvSpPr>
        <p:spPr>
          <a:xfrm>
            <a:off x="7077456" y="2468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Publishing</a:t>
            </a:r>
            <a:endParaRPr lang="en-US" sz="950" dirty="0"/>
          </a:p>
        </p:txBody>
      </p:sp>
      <p:sp>
        <p:nvSpPr>
          <p:cNvPr id="90" name="Shape 78"/>
          <p:cNvSpPr/>
          <p:nvPr/>
        </p:nvSpPr>
        <p:spPr>
          <a:xfrm>
            <a:off x="6949440" y="2743200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79"/>
          <p:cNvSpPr/>
          <p:nvPr/>
        </p:nvSpPr>
        <p:spPr>
          <a:xfrm>
            <a:off x="7077456" y="26883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Government</a:t>
            </a:r>
            <a:endParaRPr lang="en-US" sz="950" dirty="0"/>
          </a:p>
        </p:txBody>
      </p:sp>
      <p:sp>
        <p:nvSpPr>
          <p:cNvPr id="92" name="Shape 80"/>
          <p:cNvSpPr/>
          <p:nvPr/>
        </p:nvSpPr>
        <p:spPr>
          <a:xfrm>
            <a:off x="6949440" y="2962656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1"/>
          <p:cNvSpPr/>
          <p:nvPr/>
        </p:nvSpPr>
        <p:spPr>
          <a:xfrm>
            <a:off x="7077456" y="2907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Personal</a:t>
            </a:r>
            <a:endParaRPr lang="en-US" sz="950" dirty="0"/>
          </a:p>
        </p:txBody>
      </p:sp>
      <p:sp>
        <p:nvSpPr>
          <p:cNvPr id="94" name="Shape 82"/>
          <p:cNvSpPr/>
          <p:nvPr/>
        </p:nvSpPr>
        <p:spPr>
          <a:xfrm>
            <a:off x="6949440" y="3182112"/>
            <a:ext cx="54864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3"/>
          <p:cNvSpPr/>
          <p:nvPr/>
        </p:nvSpPr>
        <p:spPr>
          <a:xfrm>
            <a:off x="7077456" y="3127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Research</a:t>
            </a:r>
            <a:endParaRPr lang="en-US" sz="950" dirty="0"/>
          </a:p>
        </p:txBody>
      </p:sp>
      <p:sp>
        <p:nvSpPr>
          <p:cNvPr id="96" name="Shape 84"/>
          <p:cNvSpPr/>
          <p:nvPr/>
        </p:nvSpPr>
        <p:spPr>
          <a:xfrm>
            <a:off x="0" y="4553712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1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553712"/>
            <a:ext cx="9144000" cy="36576"/>
          </a:xfrm>
          <a:prstGeom prst="rect">
            <a:avLst/>
          </a:prstGeom>
        </p:spPr>
      </p:pic>
      <p:sp>
        <p:nvSpPr>
          <p:cNvPr id="98" name="Text 85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</a:rPr>
              <a:t>Word processors are not just tools — they are essential skills for every student and professional in the modern world.</a:t>
            </a:r>
            <a:endParaRPr lang="en-US" sz="1100" dirty="0"/>
          </a:p>
        </p:txBody>
      </p:sp>
      <p:sp>
        <p:nvSpPr>
          <p:cNvPr id="99" name="Shape 8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87"/>
          <p:cNvSpPr/>
          <p:nvPr/>
        </p:nvSpPr>
        <p:spPr>
          <a:xfrm>
            <a:off x="0" y="4919472"/>
            <a:ext cx="9144000" cy="228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88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Word Processing Software  ·  Group NSDA Web Developers  ·  All 15 Topics</a:t>
            </a:r>
            <a:endParaRPr lang="en-US" sz="800" dirty="0"/>
          </a:p>
        </p:txBody>
      </p:sp>
      <p:sp>
        <p:nvSpPr>
          <p:cNvPr id="7501" name="DecoHuge"/>
          <p:cNvSpPr/>
          <p:nvPr/>
        </p:nvSpPr>
        <p:spPr>
          <a:xfrm>
            <a:off x="7400000" y="-1600000"/>
            <a:ext cx="3200000" cy="3200000"/>
          </a:xfrm>
          <a:prstGeom prst="ellipse">
            <a:avLst/>
          </a:prstGeom>
          <a:gradFill>
            <a:gsLst>
              <a:gs pos="0">
                <a:srgbClr val="6FD5B3">
                  <a:alpha val="16000"/>
                </a:srgbClr>
              </a:gs>
              <a:gs pos="100000">
                <a:srgbClr val="10B981">
                  <a:alpha val="8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502" name="DecoMed"/>
          <p:cNvSpPr/>
          <p:nvPr/>
        </p:nvSpPr>
        <p:spPr>
          <a:xfrm>
            <a:off x="8200000" y="-400000"/>
            <a:ext cx="1800000" cy="1800000"/>
          </a:xfrm>
          <a:prstGeom prst="ellipse">
            <a:avLst/>
          </a:prstGeom>
          <a:gradFill>
            <a:gsLst>
              <a:gs pos="0">
                <a:srgbClr val="A570DF">
                  <a:alpha val="20000"/>
                </a:srgbClr>
              </a:gs>
              <a:gs pos="100000">
                <a:srgbClr val="6A11CB">
                  <a:alpha val="10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503" name="DecoAccent"/>
          <p:cNvSpPr/>
          <p:nvPr/>
        </p:nvSpPr>
        <p:spPr>
          <a:xfrm>
            <a:off x="8750000" y="500000"/>
            <a:ext cx="450000" cy="450000"/>
          </a:xfrm>
          <a:prstGeom prst="ellipse">
            <a:avLst/>
          </a:prstGeom>
          <a:solidFill>
            <a:srgbClr val="0D9488">
              <a:alpha val="3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04" name="DecoBL"/>
          <p:cNvSpPr/>
          <p:nvPr/>
        </p:nvSpPr>
        <p:spPr>
          <a:xfrm>
            <a:off x="-1200000" y="3900000"/>
            <a:ext cx="2400000" cy="2400000"/>
          </a:xfrm>
          <a:prstGeom prst="ellipse">
            <a:avLst/>
          </a:prstGeom>
          <a:gradFill>
            <a:gsLst>
              <a:gs pos="0">
                <a:srgbClr val="A570DF">
                  <a:alpha val="12000"/>
                </a:srgbClr>
              </a:gs>
              <a:gs pos="100000">
                <a:srgbClr val="6A11CB">
                  <a:alpha val="6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505" name="DecoBR"/>
          <p:cNvSpPr/>
          <p:nvPr/>
        </p:nvSpPr>
        <p:spPr>
          <a:xfrm>
            <a:off x="8300000" y="4000000"/>
            <a:ext cx="1500000" cy="1500000"/>
          </a:xfrm>
          <a:prstGeom prst="ellipse">
            <a:avLst/>
          </a:prstGeom>
          <a:gradFill>
            <a:gsLst>
              <a:gs pos="0">
                <a:srgbClr val="6FD5B3">
                  <a:alpha val="14000"/>
                </a:srgbClr>
              </a:gs>
              <a:gs pos="100000">
                <a:srgbClr val="10B981">
                  <a:alpha val="700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506" name="DiamondC"/>
          <p:cNvSpPr/>
          <p:nvPr/>
        </p:nvSpPr>
        <p:spPr>
          <a:xfrm>
            <a:off x="4400000" y="4900000"/>
            <a:ext cx="180000" cy="180000"/>
          </a:xfrm>
          <a:prstGeom prst="diamond">
            <a:avLst/>
          </a:prstGeom>
          <a:solidFill>
            <a:srgbClr val="0D9488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20" name="BLDot0"/>
          <p:cNvSpPr/>
          <p:nvPr/>
        </p:nvSpPr>
        <p:spPr>
          <a:xfrm>
            <a:off x="150000" y="4850000"/>
            <a:ext cx="85000" cy="85000"/>
          </a:xfrm>
          <a:prstGeom prst="ellipse">
            <a:avLst/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21" name="BLDot1"/>
          <p:cNvSpPr/>
          <p:nvPr/>
        </p:nvSpPr>
        <p:spPr>
          <a:xfrm>
            <a:off x="280000" y="4920000"/>
            <a:ext cx="55000" cy="55000"/>
          </a:xfrm>
          <a:prstGeom prst="ellipse">
            <a:avLst/>
          </a:prstGeom>
          <a:solidFill>
            <a:srgbClr val="10B981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22" name="BLDot2"/>
          <p:cNvSpPr/>
          <p:nvPr/>
        </p:nvSpPr>
        <p:spPr>
          <a:xfrm>
            <a:off x="110000" y="4960000"/>
            <a:ext cx="38000" cy="380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2265</Words>
  <Application>Microsoft Office PowerPoint</Application>
  <PresentationFormat>On-screen Show (16:9)</PresentationFormat>
  <Paragraphs>427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Impact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Processing Software — NSDA Web Developers</dc:title>
  <dc:subject>PptxGenJS Presentation</dc:subject>
  <dc:creator>PptxGenJS</dc:creator>
  <cp:lastModifiedBy>Shahrear Emon</cp:lastModifiedBy>
  <cp:revision>2</cp:revision>
  <dcterms:created xsi:type="dcterms:W3CDTF">2026-03-13T18:17:03Z</dcterms:created>
  <dcterms:modified xsi:type="dcterms:W3CDTF">2026-03-13T19:33:49Z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2026-03-13T19:22:25Z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1612a2f4-0822-498b-adfc-66e4fc38bbca</vt:lpwstr>
  </property>
  <property fmtid="{D5CDD505-2E9C-101B-9397-08002B2CF9AE}" pid="7" name="MSIP_Label_defa4170-0d19-0005-0004-bc88714345d2_ActionId">
    <vt:lpwstr>13d5208f-964f-4051-bbbe-fe7d12238152</vt:lpwstr>
  </property>
  <property fmtid="{D5CDD505-2E9C-101B-9397-08002B2CF9AE}" pid="8" name="MSIP_Label_defa4170-0d19-0005-0004-bc88714345d2_ContentBits">
    <vt:lpwstr>0</vt:lpwstr>
  </property>
</Properties>
</file>