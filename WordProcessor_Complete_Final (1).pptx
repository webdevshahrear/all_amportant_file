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82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36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14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775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57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3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1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35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73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3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799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8020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66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0434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85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914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38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08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0" y="0"/>
            <a:ext cx="1371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402336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 dirty="0">
                <a:latin typeface="Calibri"/>
              </a:rPr>
              <a:t>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4023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chemeClr val="accent1"/>
                </a:solidFill>
                <a:latin typeface="Calibri"/>
              </a:rPr>
              <a:t>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542032"/>
            <a:ext cx="4023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latin typeface="Calibri"/>
              </a:rPr>
              <a:t>SOFTWARE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18688"/>
            <a:ext cx="356616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3337560"/>
            <a:ext cx="4023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latin typeface="Calibri"/>
              </a:rPr>
              <a:t>A Comprehensive Group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67328"/>
            <a:ext cx="4023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latin typeface="Calibri"/>
              </a:rPr>
              <a:t>Covering All 15 Topics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280160"/>
            <a:ext cx="69494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83480" y="1280160"/>
            <a:ext cx="694944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38928" y="1344168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PRESENTATION DETAILS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755648"/>
            <a:ext cx="6656832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181051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Topic 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048255"/>
            <a:ext cx="6309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172A"/>
                </a:solidFill>
                <a:latin typeface="Calibri"/>
              </a:rPr>
              <a:t>Word Processing Software — All 15 Topics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505456"/>
            <a:ext cx="6656832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25603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Course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798063"/>
            <a:ext cx="6309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172A"/>
                </a:solidFill>
                <a:latin typeface="Calibri"/>
              </a:rPr>
              <a:t>[</a:t>
            </a:r>
            <a:r>
              <a:rPr lang="en-US" sz="1200" b="1" i="0" dirty="0">
                <a:effectLst/>
                <a:latin typeface="inherit"/>
              </a:rPr>
              <a:t>Web Design and Development for Freelancing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3255263"/>
            <a:ext cx="6656832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57800" y="3310127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Group Members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547871"/>
            <a:ext cx="6309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172A"/>
                </a:solidFill>
                <a:latin typeface="Calibri"/>
              </a:rPr>
              <a:t>[</a:t>
            </a:r>
            <a:r>
              <a:rPr lang="en-US" sz="1200" b="1" i="0" dirty="0">
                <a:solidFill>
                  <a:srgbClr val="0F172A"/>
                </a:solidFill>
                <a:latin typeface="Calibri"/>
              </a:rPr>
              <a:t>Shahrear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]  ·  [</a:t>
            </a:r>
            <a:r>
              <a:rPr lang="en-US" sz="1200" b="1" dirty="0">
                <a:solidFill>
                  <a:srgbClr val="0F172A"/>
                </a:solidFill>
                <a:latin typeface="Calibri"/>
              </a:rPr>
              <a:t>Adam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]  ·  [</a:t>
            </a:r>
            <a:r>
              <a:rPr lang="en-US" sz="1200" b="1" dirty="0" err="1">
                <a:solidFill>
                  <a:srgbClr val="0F172A"/>
                </a:solidFill>
                <a:latin typeface="Calibri"/>
              </a:rPr>
              <a:t>Istak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]</a:t>
            </a:r>
            <a:r>
              <a:rPr lang="en-US" sz="1200" b="1" i="0" dirty="0">
                <a:solidFill>
                  <a:srgbClr val="0F172A"/>
                </a:solidFill>
                <a:latin typeface="Calibri"/>
              </a:rPr>
              <a:t> ·  [Mohibullah] ·  [Arup] </a:t>
            </a:r>
            <a:endParaRPr sz="1200" b="1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120640" y="4005072"/>
            <a:ext cx="6656832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57800" y="4059935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Student IDs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4754879"/>
            <a:ext cx="6656832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57800" y="480974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Submission 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5047488"/>
            <a:ext cx="6309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172A"/>
                </a:solidFill>
                <a:latin typeface="Calibri"/>
              </a:rPr>
              <a:t>[</a:t>
            </a:r>
            <a:r>
              <a:rPr lang="en-US" sz="1200" b="1" dirty="0">
                <a:solidFill>
                  <a:srgbClr val="0F172A"/>
                </a:solidFill>
                <a:latin typeface="Calibri"/>
              </a:rPr>
              <a:t>11.03.2026</a:t>
            </a:r>
            <a:r>
              <a:rPr sz="1200" b="1" i="0" dirty="0">
                <a:solidFill>
                  <a:srgbClr val="0F172A"/>
                </a:solidFill>
                <a:latin typeface="Calibri"/>
              </a:rPr>
              <a:t>]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Introduction to Word Processing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Definition  ·  History  · 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078992"/>
            <a:ext cx="115214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078992"/>
            <a:ext cx="91440" cy="8412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12471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Definition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353312"/>
            <a:ext cx="11064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A word processor is software that enables users to create, edit, format, store and print text documents. It offers dynamic editing, rich formatting, spell-checking and digital storage — making document creation fast and professional.</a:t>
            </a:r>
          </a:p>
        </p:txBody>
      </p:sp>
      <p:pic>
        <p:nvPicPr>
          <p:cNvPr id="17" name="Picture 16" descr="01_timelin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0"/>
            <a:ext cx="11521440" cy="248716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84048" y="4626864"/>
            <a:ext cx="1810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4048" y="4626864"/>
            <a:ext cx="1810512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" y="466344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1960s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956048"/>
            <a:ext cx="1719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Mainframe text editors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626864"/>
            <a:ext cx="1810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6000" y="4626864"/>
            <a:ext cx="181051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31720" y="466344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1970s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956048"/>
            <a:ext cx="1719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Wang Word Processor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87952" y="4626864"/>
            <a:ext cx="1810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87952" y="4626864"/>
            <a:ext cx="1810512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33672" y="466344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1983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4956048"/>
            <a:ext cx="1719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Microsoft Word launched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9904" y="4626864"/>
            <a:ext cx="1810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89904" y="4626864"/>
            <a:ext cx="1810512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35624" y="466344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1990s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5624" y="4956048"/>
            <a:ext cx="1719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GUI word processors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91856" y="4626864"/>
            <a:ext cx="1810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991856" y="4626864"/>
            <a:ext cx="1810512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37576" y="466344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2000s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7576" y="4956048"/>
            <a:ext cx="1719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Cloud collaboration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93808" y="4626864"/>
            <a:ext cx="1810512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893808" y="4626864"/>
            <a:ext cx="1810512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939528" y="4663440"/>
            <a:ext cx="1719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39528" y="4956048"/>
            <a:ext cx="1719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AI-powered writing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User Interface &amp; Workspace of Microsoft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Ribbon  ·  Title Bar  ·  Document Area  ·  Status Bar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9168" y="1078992"/>
            <a:ext cx="48280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59168" y="1078992"/>
            <a:ext cx="91440" cy="42062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05472" y="111556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</a:rPr>
              <a:t>Title 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1316736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Shows document name &amp; window controls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9168" y="1554480"/>
            <a:ext cx="48280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59168" y="1554480"/>
            <a:ext cx="91440" cy="4206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05472" y="159105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Quick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1792224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Undo, Redo, Save — one click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029967"/>
            <a:ext cx="48280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59168" y="2029967"/>
            <a:ext cx="91440" cy="4206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05472" y="2066543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Ribbon Tabs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267711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Home, Insert, Layout, References...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9168" y="2505456"/>
            <a:ext cx="48280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59168" y="2505456"/>
            <a:ext cx="91440" cy="42062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05472" y="254203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91B2"/>
                </a:solidFill>
                <a:latin typeface="Calibri"/>
              </a:rPr>
              <a:t>Command Ribbon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5472" y="2743200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Font, Paragraph, Styles groups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9168" y="2980944"/>
            <a:ext cx="48280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59168" y="2980944"/>
            <a:ext cx="91440" cy="42062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05472" y="301752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Ruler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3218687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Set margins, indents, tab stops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456432"/>
            <a:ext cx="48280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59168" y="3456432"/>
            <a:ext cx="91440" cy="42062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05472" y="349300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Document Area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5472" y="3694176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Main editing &amp; typing zone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9168" y="3931920"/>
            <a:ext cx="48280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9168" y="3931920"/>
            <a:ext cx="91440" cy="4206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05472" y="396849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Navigation Pane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472" y="4169663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Search &amp; jump to headings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9168" y="4407408"/>
            <a:ext cx="48280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59168" y="4407408"/>
            <a:ext cx="91440" cy="42062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05472" y="4443984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</a:rPr>
              <a:t>Status Bar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5472" y="4645152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Page, words, language, zoom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029200"/>
            <a:ext cx="11521440" cy="6766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" y="50840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Pro Tip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340096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Customize Quick Access Toolbar — right-click any ribbon button → Add to Quick Access Toolbar to save time.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C7EEC39-84E2-C7C0-CA80-7A2BD800B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8229"/>
            <a:ext cx="6291875" cy="3385429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Text Formatting &amp; Font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Bold  ·  Italic  ·  Font Size  ·  Color  ·  Effects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pic>
        <p:nvPicPr>
          <p:cNvPr id="13" name="Picture 12" descr="03_formatting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8992"/>
            <a:ext cx="7818120" cy="2971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366760" y="1133856"/>
            <a:ext cx="3749039" cy="464515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078992"/>
            <a:ext cx="3749039" cy="46451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1078992"/>
            <a:ext cx="3749039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1143000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Font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1499616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Font Family — Calibri, Arial, Times New Roman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1883664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Font Size — Body 11-12pt, Headings 18-24pt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267712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Bold / Italic / Underline  (Ctrl+B / I / 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265176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Text Color &amp; Highlight Color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3035808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Superscript x²  and Subscript H₂O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3419856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Character Spacing — expand/condense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3803904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Change Case — UPPER / lower / Title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4187952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Shadow, Outline &amp; Emboss effects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4572000"/>
            <a:ext cx="354787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75569"/>
                </a:solidFill>
                <a:latin typeface="Calibri"/>
              </a:rPr>
              <a:t>• Embed fonts for cross-device sharing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142232"/>
            <a:ext cx="7818120" cy="157276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2062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Essential Keyboard Shortcuts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72000"/>
            <a:ext cx="804672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" y="46085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Ctrl+B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5024" y="4608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Bold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71800" y="4572000"/>
            <a:ext cx="804672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08376" y="46085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Ctrl+I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9624" y="4608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Italic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4572000"/>
            <a:ext cx="804672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22976" y="46085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Ctrl+U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4" y="4608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Underline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102352"/>
            <a:ext cx="804672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6" y="51389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Ctrl+]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35024" y="51389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Bigger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71800" y="5102352"/>
            <a:ext cx="804672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08376" y="51389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Ctrl+[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9624" y="51389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Smaller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5102352"/>
            <a:ext cx="804672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22976" y="51389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Ctrl+Space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4224" y="51389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Clear Format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Paragraph Formatting &amp; Alignment Techniques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Alignment  ·  Line Spacing  ·  Indents  ·  Borders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pic>
        <p:nvPicPr>
          <p:cNvPr id="13" name="Picture 12" descr="04_alignment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8992"/>
            <a:ext cx="11521440" cy="254203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0040" y="3730752"/>
            <a:ext cx="5687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3730752"/>
            <a:ext cx="91440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7" y="38039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ED8"/>
                </a:solidFill>
                <a:latin typeface="Calibri"/>
              </a:rPr>
              <a:t>Line Spacing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41330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Single 1.0, One-and-half 1.5, Double 2.0 or custom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30752"/>
            <a:ext cx="5687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730752"/>
            <a:ext cx="91440" cy="8046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38039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C2626"/>
                </a:solidFill>
                <a:latin typeface="Calibri"/>
              </a:rPr>
              <a:t>Paragraph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41330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Before &amp; After spacing for visual breathing room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645152"/>
            <a:ext cx="5687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4645152"/>
            <a:ext cx="91440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7" y="47183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Calibri"/>
              </a:rPr>
              <a:t>Indentation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" y="50474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First-line, Hanging, or Block indent for quotes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645152"/>
            <a:ext cx="5687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645152"/>
            <a:ext cx="91440" cy="8046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7" y="47183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891B2"/>
                </a:solidFill>
                <a:latin typeface="Calibri"/>
              </a:rPr>
              <a:t>Borders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50474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Decorative borders around paragraphs or pages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559552"/>
            <a:ext cx="5687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5559552"/>
            <a:ext cx="91440" cy="8046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207" y="56327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A580C"/>
                </a:solidFill>
                <a:latin typeface="Calibri"/>
              </a:rPr>
              <a:t>Tab Stops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" y="59618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Left, Right, Center, Decimal at set positions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5559552"/>
            <a:ext cx="5687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63640" y="5559552"/>
            <a:ext cx="91440" cy="8046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64807" y="56327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9669"/>
                </a:solidFill>
                <a:latin typeface="Calibri"/>
              </a:rPr>
              <a:t>Keep Together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7" y="59618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Prevents paragraph splitting across pages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Page Layout, Margins &amp; Document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Page Size  ·  Orientation  ·  Margins  ·  Columns  ·  Sections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pic>
        <p:nvPicPr>
          <p:cNvPr id="13" name="Picture 12" descr="05_pagelayout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078992"/>
            <a:ext cx="5074920" cy="537667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0040" y="1078992"/>
            <a:ext cx="62910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078992"/>
            <a:ext cx="91440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115214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ED8"/>
                </a:solidFill>
                <a:latin typeface="Calibri"/>
              </a:rPr>
              <a:t>Page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1444752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A4 (210×297mm) or Letter (8.5×11"). Layout → Size.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847088"/>
            <a:ext cx="62910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1847088"/>
            <a:ext cx="91440" cy="67665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192024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C2626"/>
                </a:solidFill>
                <a:latin typeface="Calibri"/>
              </a:rPr>
              <a:t>Orientation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212848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Portrait (vertical) or Landscape (horizontal).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615184"/>
            <a:ext cx="62910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2615184"/>
            <a:ext cx="91440" cy="6766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268833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Calibri"/>
              </a:rPr>
              <a:t>Margins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2980944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Standard: 1" all sides. Normal, Narrow, Wide presets.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83280"/>
            <a:ext cx="62910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3383280"/>
            <a:ext cx="91440" cy="67665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345643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891B2"/>
                </a:solidFill>
                <a:latin typeface="Calibri"/>
              </a:rPr>
              <a:t>Columns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3749040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2 or 3 columns for newsletters and brochures.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51376"/>
            <a:ext cx="62910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4151376"/>
            <a:ext cx="91440" cy="67665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422452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A580C"/>
                </a:solidFill>
                <a:latin typeface="Calibri"/>
              </a:rPr>
              <a:t>Page Breaks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451713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Force content to next page — Ctrl+Enter.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919472"/>
            <a:ext cx="62910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4919472"/>
            <a:ext cx="91440" cy="67665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499262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9669"/>
                </a:solidFill>
                <a:latin typeface="Calibri"/>
              </a:rPr>
              <a:t>Section Breaks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285232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Apply different layouts within one document.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687568"/>
            <a:ext cx="62910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" y="5687568"/>
            <a:ext cx="91440" cy="6766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576072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ED8"/>
                </a:solidFill>
                <a:latin typeface="Calibri"/>
              </a:rPr>
              <a:t>Watermarks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6053328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DRAFT or CONFIDENTIAL background text on pages.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Tables, Lists &amp; Document 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Tables  ·  Bullet Lists  ·  Numbered Lists  ·  Structure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59" y="1133856"/>
            <a:ext cx="3730752" cy="3063240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078992"/>
            <a:ext cx="3730752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078992"/>
            <a:ext cx="3730752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143000"/>
            <a:ext cx="3547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" y="149961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Insert via Insert → Table menu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" y="1883664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Merge / Split cells for complex layouts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" y="226771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Apply built-in table styles quickly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" y="265176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Sort data alphabetically or numerically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" y="3035808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Add formulas: SUM, AVERAGE in cells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341985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Convert text to table instantly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3672" y="1133856"/>
            <a:ext cx="3730752" cy="3063240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87952" y="1078992"/>
            <a:ext cx="3730752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87952" y="1078992"/>
            <a:ext cx="373075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5112" y="1143000"/>
            <a:ext cx="3547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Lists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9961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Bullet Lists — unordered (•, ✓, ▸)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883664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Numbered Lists — ordered (1, 2, 3...)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226771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Multilevel Lists — nested sub-items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265176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Custom bullet symbols or images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3035808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Continue or restart numbering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341985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Define new list styles easily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0728" y="1133856"/>
            <a:ext cx="3794760" cy="3063240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65008" y="1078992"/>
            <a:ext cx="37947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65008" y="1078992"/>
            <a:ext cx="379476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2168" y="1143000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Organization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4" y="1499616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Heading Styles → Auto Table of Contents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3024" y="1883664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Bookmarks for quick navigation jumps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4" y="2267712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Cross-references between sections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3024" y="2651760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Captions for all figures and tables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4" y="3035808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Footnotes &amp; Endnotes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3419856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Index created from marked entries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261104"/>
            <a:ext cx="11521440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43159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Sample Table: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4645152"/>
            <a:ext cx="2176272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9768" y="4681728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Student Name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24328" y="4645152"/>
            <a:ext cx="2176272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670048" y="4681728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Student 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64608" y="4645152"/>
            <a:ext cx="2176272" cy="32918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10328" y="4681728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04888" y="4645152"/>
            <a:ext cx="2176272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50608" y="4681728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Assignment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45168" y="4645152"/>
            <a:ext cx="2176272" cy="3291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90888" y="4681728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Grade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" y="5010912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9768" y="504748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Ahmed Hassan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24328" y="5010912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670048" y="504748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2024001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64608" y="5010912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910328" y="504748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CSE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04888" y="5010912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150608" y="504748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Assignment 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45168" y="5010912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390888" y="504748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A+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4048" y="5431536"/>
            <a:ext cx="217627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29768" y="5468112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Sarah Islam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24328" y="5431536"/>
            <a:ext cx="217627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670048" y="5468112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2024002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64608" y="5431536"/>
            <a:ext cx="217627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10328" y="5468112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BBA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04888" y="5431536"/>
            <a:ext cx="217627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150608" y="5468112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Project Work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45168" y="5431536"/>
            <a:ext cx="217627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390888" y="5468112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4048" y="5852159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29768" y="5888736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Rahim Uddin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24328" y="5852159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670048" y="5888736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2024003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64608" y="5852159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910328" y="5888736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EEE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104888" y="5852159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50608" y="5888736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Lab Report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345168" y="5852159"/>
            <a:ext cx="2176272" cy="38404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390888" y="5888736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F172A"/>
                </a:solidFill>
                <a:latin typeface="Calibri"/>
              </a:rPr>
              <a:t>A+</a:t>
            </a: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Inserting &amp; Managing Images, Shapes &amp; 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Insert Tab  ·  Picture Tools  ·  SmartArt  ·  Drawing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59" y="1133856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078992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078992"/>
            <a:ext cx="37673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" y="114300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Insert Picture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" y="1499616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Insert → Pictures → Device or Online. Supports JPG, PNG, SVG.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5112" y="1133856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79392" y="1078992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79392" y="1078992"/>
            <a:ext cx="3767328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07407" y="114300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Resize &amp; Crop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7" y="1499616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Drag corner handles to resize. Format → Crop to trim images.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4464" y="1133856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38744" y="1078992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38744" y="1078992"/>
            <a:ext cx="3767328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114300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Text Wrapping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1499616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Inline, Square, Tight, Through, Behind/In Front of Text.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59" y="2889503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2834639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2834639"/>
            <a:ext cx="3767328" cy="32918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6" y="2898647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Insert Shapes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" y="3255263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Insert → Shapes — lines, rectangles, arrows, callouts &amp; more.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5112" y="2889503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79392" y="2834639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79392" y="2834639"/>
            <a:ext cx="3767328" cy="32918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07407" y="2898647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Format Shapes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7" y="3255263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Fill color, outline, shadow, 3D effects via Format tab.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84464" y="2889503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38744" y="2834639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38744" y="2834639"/>
            <a:ext cx="3767328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66760" y="2898647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SmartArt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3255263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Insert → SmartArt — diagrams, process flows, org charts.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59" y="4645151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0040" y="4590288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0040" y="4590288"/>
            <a:ext cx="37673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465429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Icons &amp; Charts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5010912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Insert modern icons, bar charts, pie charts, line graphs.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5112" y="4645151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279392" y="4590288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279392" y="4590288"/>
            <a:ext cx="3767328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07407" y="465429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Group Objects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07407" y="5010912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Select multiple → Right-click → Group to move together.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84464" y="4645151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238744" y="4590288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38744" y="4590288"/>
            <a:ext cx="3767328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66760" y="465429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Alt Text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5010912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Add descriptive alt text for accessibility (Right-click image).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Headers, Footers, Page Numbers &amp; Navigation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Insert Tab  ·  Header &amp; Footer Tools  ·  Navigation Pane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078992"/>
            <a:ext cx="580644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078992"/>
            <a:ext cx="5806440" cy="31089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13385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Headers &amp; Footers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481328"/>
            <a:ext cx="5623560" cy="73152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1481328"/>
            <a:ext cx="73152" cy="7315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15544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4ED8"/>
                </a:solidFill>
                <a:latin typeface="Calibri"/>
              </a:rPr>
              <a:t>How to Insert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8105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Insert Tab → Header → Choose a style, or click Edit Header. Double-click header/footer area at any time.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304288"/>
            <a:ext cx="5623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80" y="2304288"/>
            <a:ext cx="73152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23774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C3AED"/>
                </a:solidFill>
                <a:latin typeface="Calibri"/>
              </a:rPr>
              <a:t>Header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6334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Document title, company name, chapter name, logo image, or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127248"/>
            <a:ext cx="5623560" cy="73152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1480" y="3127248"/>
            <a:ext cx="73152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32004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C2626"/>
                </a:solidFill>
                <a:latin typeface="Calibri"/>
              </a:rPr>
              <a:t>Footer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4564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Page numbers, author name, file path, date, confidentiality.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950208"/>
            <a:ext cx="5623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1480" y="3950208"/>
            <a:ext cx="73152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402336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891B2"/>
                </a:solidFill>
                <a:latin typeface="Calibri"/>
              </a:rPr>
              <a:t>Different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2793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Insert → Header → Edit Header → Check 'Different First Page' or 'Different Odd &amp; Even'.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773168"/>
            <a:ext cx="5623560" cy="73152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1480" y="4773168"/>
            <a:ext cx="73152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4846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A580C"/>
                </a:solidFill>
                <a:latin typeface="Calibri"/>
              </a:rPr>
              <a:t>Link to Previous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1023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When using sections, use 'Link to Previous' to keep headers consistent.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596128"/>
            <a:ext cx="5623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11480" y="5596128"/>
            <a:ext cx="73152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56692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  <a:latin typeface="Calibri"/>
              </a:rPr>
              <a:t>Remove Header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9253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Double-click header area → Select All (Ctrl+A) → Delete → Close.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1078992"/>
            <a:ext cx="5513832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55080" y="1078992"/>
            <a:ext cx="5513832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37960" y="1133856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Page Numbers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1481328"/>
            <a:ext cx="5330952" cy="36576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65392" y="14996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Insert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9872" y="14996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Insert → Page Number → choose Top, Bottom, Page Margin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1920239"/>
            <a:ext cx="5330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65392" y="1938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Format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9872" y="19385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Insert → Page Number → Format Page Numbers (Roman: i, ii…)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20" y="2359152"/>
            <a:ext cx="5330952" cy="36576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65392" y="237743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Start Number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19872" y="237743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Set starting number — useful for multi-chapter documents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46520" y="2798063"/>
            <a:ext cx="533095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65392" y="281635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Remove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19872" y="28163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Insert → Header &amp; Footer → Remove Page Numbers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46520" y="3236976"/>
            <a:ext cx="5330952" cy="36576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65392" y="325526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Current/Total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19872" y="325526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Use PAGE/NUMPAGES fields to show '3 of 15' format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55080" y="3712463"/>
            <a:ext cx="5513832" cy="2761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355080" y="3712463"/>
            <a:ext cx="5513832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37960" y="376732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Document Navigation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4114800"/>
            <a:ext cx="5330952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65392" y="4133087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Navigation Pane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19872" y="4133087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View → Navigation Pane — jump between headings, pages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46520" y="4517136"/>
            <a:ext cx="533095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65392" y="453542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Find (Ctrl+F)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19872" y="453542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Instantly search for any word, phrase, or format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4919472"/>
            <a:ext cx="5330952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65392" y="4937759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Go To (Ctrl+G)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19872" y="4937759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Jump to page, section, line, bookmark, or comment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46520" y="5321808"/>
            <a:ext cx="533095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65392" y="534009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Bookmarks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19872" y="534009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Insert → Bookmark — mark locations for quick return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5724144"/>
            <a:ext cx="5330952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565392" y="5742431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Hyperlinks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19872" y="5742431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Link text to pages, URLs, emails, or bookmarks within doc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46520" y="6126480"/>
            <a:ext cx="533095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65392" y="614476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Document Map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19872" y="614476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Use Heading Styles to build automatic navigation map</a:t>
            </a: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Editing Tools — Spell Check, Grammar &amp; Find/Replace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Review Tab  ·  Find &amp; Replace  ·  AutoCorrect  ·  Editor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59" y="1133856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078992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078992"/>
            <a:ext cx="3767328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" y="114300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F7  Spell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" y="1499616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Red wavy underlines flag spelling errors. Right-click for suggestions. Works in 100+ languages.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5112" y="1133856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79392" y="1078992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79392" y="1078992"/>
            <a:ext cx="37673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07407" y="114300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Grammar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7" y="1499616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Blue underlines flag grammar issues. 'Editor' pane gives AI-powered writing improvement suggestions.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4464" y="1133856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38744" y="1078992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38744" y="1078992"/>
            <a:ext cx="3767328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114300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Ctrl+F  Find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1499616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Instantly locate any word, phrase, or formatting in the whole document. Highlights all matches.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59" y="2889503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2834639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2834639"/>
            <a:ext cx="3767328" cy="32918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6" y="2898647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Ctrl+H  Replace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" y="3255263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Find and replace text throughout the document — ideal for bulk name or term replacements.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5112" y="2889503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79392" y="2834639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79392" y="2834639"/>
            <a:ext cx="3767328" cy="32918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07407" y="2898647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AutoCorrect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7" y="3255263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Automatically corrects common typos (teh→the) and expands shortcuts. Customizable list.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84464" y="2889503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38744" y="2834639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38744" y="2834639"/>
            <a:ext cx="3767328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66760" y="2898647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Track Changes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3255263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Records every edit with author name and timestamp. Reviewers can Accept or Reject changes.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59" y="4645151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0040" y="4590288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0040" y="4590288"/>
            <a:ext cx="3767328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465429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" y="5010912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Insert comments that appear in the margin. Use @mention to notify teammates in shared docs.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5112" y="4645151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279392" y="4590288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279392" y="4590288"/>
            <a:ext cx="37673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07407" y="465429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Read Aloud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07407" y="5010912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Review → Read Aloud — the document is read out, great for proofreading by listening.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84464" y="4645151"/>
            <a:ext cx="3767328" cy="160934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238744" y="4590288"/>
            <a:ext cx="37673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38744" y="4590288"/>
            <a:ext cx="3767328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66760" y="465429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Word Count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5010912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Review → Word Count shows words, characters, paragraphs, lines. Also shown in Status Bar.</a:t>
            </a: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Templates, Styles &amp; Document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Built-in Templates  ·  Heading Styles  ·  Themes  ·  Table of Contents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59" y="1133856"/>
            <a:ext cx="3730752" cy="537667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078992"/>
            <a:ext cx="3730752" cy="5376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078992"/>
            <a:ext cx="3730752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143000"/>
            <a:ext cx="3547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Built-in Templates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" y="149961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File → New → search templates online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" y="1883664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CV / Resume — professional layouts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" y="226771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Business Letter — formal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" y="265176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Report — with TOC and headings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" y="3035808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Newsletter — multi-column layout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341985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Invoice — table-based billing 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" y="3803904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Flyer — visual marketing layouts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" y="418795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Calendar — monthly/weekly planners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" y="457200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Certificate — award design templates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" y="4956048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Custom templates — File → Save As → .dotx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3672" y="1133856"/>
            <a:ext cx="3730752" cy="537667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87952" y="1078992"/>
            <a:ext cx="3730752" cy="5376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87952" y="1078992"/>
            <a:ext cx="373075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1143000"/>
            <a:ext cx="3547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Heading Styles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149961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Home → Styles pane → pick Heading 1-6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1883664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Heading 1 — Main section titles (16-18pt)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226771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Heading 2 — Sub-sections (14-16pt)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265176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Heading 3 — Sub-sub-sections (12-14pt)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3035808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Normal — Body paragraph text (11-12pt)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341985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Modify styles — right-click → Modify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3803904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Style Sets — change all headings at once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418795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Auto generates Table of Contents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457200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Enables Navigation Pane headings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968" y="4956048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Critical for long academic documents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10728" y="1133856"/>
            <a:ext cx="3794760" cy="537667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065008" y="1078992"/>
            <a:ext cx="3794760" cy="5376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065008" y="1078992"/>
            <a:ext cx="379476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02168" y="1143000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Themes &amp; Table of Contents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3024" y="1499616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Design Tab → Themes — full visual makeover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1883664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Each theme changes fonts, colors, effects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3024" y="2267712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Colors — swap palette keeping structure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2651760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Fonts — pair heading + body fonts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3024" y="3035808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Page Color — background page color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3419856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Watermark — DRAFT or custom 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93024" y="3803904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TOC: References → Table of Contents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3024" y="4187952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Auto-updated with Ctrl+A → F9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3024" y="4572000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Clickable links in digital documents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3024" y="4956048"/>
            <a:ext cx="3593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• Custom TOC levels and formatting</a:t>
            </a: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Mail Merge &amp; Document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Mailings Tab  ·  Data Sources  ·  Merge Fields  · 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474720"/>
            <a:ext cx="6675120" cy="2980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3474720"/>
            <a:ext cx="6675120" cy="31089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529584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Mail Merge Step-by-Step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877056"/>
            <a:ext cx="310896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895344"/>
            <a:ext cx="310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9534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Mailings Tab → Start Mail Merge → Letters / Envelopes / Labels / Email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297680"/>
            <a:ext cx="310896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315968"/>
            <a:ext cx="310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159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Select Recipients → Use an Existing List (Excel .xlsx) or create new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718304"/>
            <a:ext cx="310896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4736592"/>
            <a:ext cx="310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3659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Insert Merge Field → place «FirstName», «Address» etc. in the document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138928"/>
            <a:ext cx="310896" cy="32918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5157216"/>
            <a:ext cx="310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57216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Preview Results — click through records to verify personalization is correct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559552"/>
            <a:ext cx="310896" cy="32918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5577840"/>
            <a:ext cx="310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7784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Finish &amp; Merge → Print All Documents or Send Email Messages in bulk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980176"/>
            <a:ext cx="310896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5998464"/>
            <a:ext cx="310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99846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Edit Individual Letters → output to new document for final 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50608" y="3474720"/>
            <a:ext cx="4718304" cy="2980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50608" y="3474720"/>
            <a:ext cx="4718304" cy="31089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0" y="3529584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Document Automation Tools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42048" y="3877056"/>
            <a:ext cx="4535424" cy="36576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60920" y="389534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Macros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389534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Record repetitive actions. Tools → Macros → Record. Replay with one click.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42048" y="4297680"/>
            <a:ext cx="45354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60920" y="4315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AutoText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4315968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Store frequently-used text blocks. Insert → Quick Parts → AutoText.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2048" y="4718304"/>
            <a:ext cx="4535424" cy="36576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60920" y="473659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Building Blocks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4736592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Reusable headers, footers, cover pages. Insert → Quick Parts.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42048" y="5138928"/>
            <a:ext cx="45354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60920" y="515721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Form Fields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5157216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Insert fill-in fields for structured data entry. Developer Tab.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42048" y="5559552"/>
            <a:ext cx="4535424" cy="365760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60920" y="557784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Linked Fields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557784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DATE, TIME, FILENAME auto-update fields. Insert → Field.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42048" y="5980176"/>
            <a:ext cx="45354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60920" y="5998464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Calibri"/>
              </a:rPr>
              <a:t>Compare Docs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23960" y="599846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Review → Compare — see differences between two document versions.</a:t>
            </a:r>
          </a:p>
        </p:txBody>
      </p:sp>
      <p:pic>
        <p:nvPicPr>
          <p:cNvPr id="59" name="Picture 58" descr="A close-up of a diagram&#10;&#10;Description automatically generated">
            <a:extLst>
              <a:ext uri="{FF2B5EF4-FFF2-40B4-BE49-F238E27FC236}">
                <a16:creationId xmlns:a16="http://schemas.microsoft.com/office/drawing/2014/main" id="{05794339-D4A8-5C78-8CAC-8EE2634E3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620" y="1069848"/>
            <a:ext cx="11965940" cy="2382504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Collaboration Tools in Word Processors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Track Changes  ·  Comments  ·  Co-Authoring  ·  Share  ·  Version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078992"/>
            <a:ext cx="5148072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20840" y="1078992"/>
            <a:ext cx="5148072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76288" y="113385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How to Collaborate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481328"/>
            <a:ext cx="4965192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31152" y="149961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49961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File → Share → Share with People → enter email, set Edit/View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1883664"/>
            <a:ext cx="496519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190195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Co-Author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190195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Multiple users type simultaneously — changes appear in real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2286000"/>
            <a:ext cx="4965192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31152" y="230428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Track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30428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Review → Track Changes → all edits shown with author name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2688336"/>
            <a:ext cx="496519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31152" y="270662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Accept/Reject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270662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Review → Accept All or Reject All tracked changes in document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3090672"/>
            <a:ext cx="4965192" cy="347472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31152" y="310896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Comments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310896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Select text → Insert → Comment → add note, reply, or @mention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3493008"/>
            <a:ext cx="496519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31152" y="351129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Version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351129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File → Info → Version History — restore any previous saved version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986784"/>
            <a:ext cx="1152144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3986784"/>
            <a:ext cx="11521440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4041648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Collaboration Platforms &amp; Tools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4389120"/>
            <a:ext cx="5577840" cy="56692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6" y="446227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Microsoft Word Online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14016" y="44622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Browser-based Word, real-time co-editing, free with Microsoft account.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4389120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6208" y="446227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Google Docs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4622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Free cloud editor, excellent real-time collaboration, comment threads.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" y="5084064"/>
            <a:ext cx="5577840" cy="56692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3776" y="51572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OneDrive Sharing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14016" y="515721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Share Word files with view/edit/comment-only permissions via link.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5084064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6208" y="51572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SharePoint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56448" y="515721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Enterprise document management with version control and approval.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" y="5779008"/>
            <a:ext cx="5577840" cy="56692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3776" y="585216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Track Changes Workflow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14016" y="58521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Author writes → Reviewer tracks → Author accepts/rejects → Final doc.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5779008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36208" y="585216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Protected Sharing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6448" y="58521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Review → Restrict Editing — allow comments-only or no changes at all.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93115D9D-F684-3D2B-2252-916E7F39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3" y="1133856"/>
            <a:ext cx="6090184" cy="2761488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File Management, Saving, Exporting &amp; Printing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Save Formats  ·  Cloud Storage  ·  Export  ·  Print Settings  ·  Distribution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5" y="1115568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078992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078992"/>
            <a:ext cx="2432304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" y="1143000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.docx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1517904"/>
            <a:ext cx="2231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Default Word format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35224" y="1115568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98648" y="1078992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98648" y="1078992"/>
            <a:ext cx="2432304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08376" y="1143000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.pdf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8376" y="1517904"/>
            <a:ext cx="2231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Final sharing format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13831" y="1115568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77255" y="1078992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77255" y="1078992"/>
            <a:ext cx="2432304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86983" y="1143000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.odt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6983" y="1517904"/>
            <a:ext cx="2231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Open-source format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5" y="2322576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2286000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2286000"/>
            <a:ext cx="2432304" cy="32918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9768" y="2350008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.txt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2724912"/>
            <a:ext cx="2231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Plain text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35224" y="2322576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898648" y="2286000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898648" y="2286000"/>
            <a:ext cx="2432304" cy="32918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08376" y="2350008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.html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08376" y="2724912"/>
            <a:ext cx="2231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Web page format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13831" y="2322576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77255" y="2286000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77255" y="2286000"/>
            <a:ext cx="2432304" cy="3291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86983" y="2350008"/>
            <a:ext cx="2231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.dotx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86983" y="2724912"/>
            <a:ext cx="2231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Word template format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79" y="1078992"/>
            <a:ext cx="3675887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83879" y="1078992"/>
            <a:ext cx="3675887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39327" y="113385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Saving Options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20" y="1481328"/>
            <a:ext cx="3493008" cy="29260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75320" y="1481328"/>
            <a:ext cx="749808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93608" y="1499616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Ctrl+S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149961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Save current file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75320" y="1828800"/>
            <a:ext cx="34930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275320" y="1828800"/>
            <a:ext cx="749808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93608" y="1847088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184708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Save As new name/path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75320" y="2176272"/>
            <a:ext cx="3493008" cy="29260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75320" y="2176272"/>
            <a:ext cx="749808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93608" y="2194560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AutoSave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98280" y="219456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OneDrive live auto-save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75320" y="2523744"/>
            <a:ext cx="34930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275320" y="2523744"/>
            <a:ext cx="749808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93608" y="2542032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AutoRecover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98280" y="254203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Crash recovery every 5 min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75320" y="2871215"/>
            <a:ext cx="3493008" cy="29260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275320" y="2871215"/>
            <a:ext cx="749808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93608" y="2889504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Export PDF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288950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File → Export → Create PDF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75320" y="3218687"/>
            <a:ext cx="349300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275320" y="3218687"/>
            <a:ext cx="7498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93608" y="3236976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File → Share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98280" y="323697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Email or cloud sharing link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3566160"/>
            <a:ext cx="11521440" cy="2889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20040" y="3566160"/>
            <a:ext cx="11521440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02920" y="3621024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Printing &amp; Document Distribution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4048" y="3968496"/>
            <a:ext cx="5577840" cy="56692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384048" y="3968496"/>
            <a:ext cx="73152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66928" y="404164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Print Preview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77440" y="404164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Ctrl+P → shows exact print layout. Check margins and page breaks before printing.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26480" y="3968496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126480" y="3968496"/>
            <a:ext cx="73152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309360" y="404164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Print Settings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19872" y="404164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Select printer, page range, copies, orientation, paper size, duplex printing.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4048" y="4626864"/>
            <a:ext cx="5577840" cy="56692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84048" y="4626864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66928" y="4700016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Print to PDF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77440" y="470001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Use Microsoft Print to PDF printer to create PDF without saving as PDF.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6480" y="4626864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126480" y="4626864"/>
            <a:ext cx="73152" cy="5669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309360" y="4700016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891B2"/>
                </a:solidFill>
                <a:latin typeface="Calibri"/>
              </a:rPr>
              <a:t>Scale to Fit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19872" y="470001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Printing → Scale — shrink or enlarge document to fit specific paper size.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84048" y="5285231"/>
            <a:ext cx="5577840" cy="566928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384048" y="5285231"/>
            <a:ext cx="73152" cy="5669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66928" y="5358383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  <a:latin typeface="Calibri"/>
              </a:rPr>
              <a:t>Email Document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77440" y="5358383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File → Share → Email → Send as Attachment (.docx) or Send as PDF.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26480" y="5285231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126480" y="5285231"/>
            <a:ext cx="73152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309360" y="5358383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Distribute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119872" y="5358383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Share via OneDrive link, USB drive, SharePoint, or print and hand-deliver.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" cy="9692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69264"/>
            <a:ext cx="1218895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80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Calibri"/>
              </a:rPr>
              <a:t>Advantages &amp; Real-World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Key Benefits  ·  Academic  ·  Business  ·  Professional  ·  Conclusion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620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Word Processing Software  ·  Comprehensive Presentation — All 15 Topics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5" y="1115568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078992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078992"/>
            <a:ext cx="2432304" cy="31089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79" y="1133856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Calibri"/>
              </a:rPr>
              <a:t>Speed &amp;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1463039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Create docs 10× faster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35224" y="1115568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98648" y="1078992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98648" y="1078992"/>
            <a:ext cx="2432304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90088" y="1133856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Error Correction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1463039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Auto spell &amp; grammar check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13831" y="1115568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77255" y="1078992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77255" y="1078992"/>
            <a:ext cx="2432304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68695" y="1133856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Easy Editing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68695" y="1463039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Cut, copy, paste, undo/redo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5" y="2322576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2286000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2286000"/>
            <a:ext cx="2432304" cy="31089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79" y="2340864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Templates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2670048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Reuse professional layouts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35224" y="2322576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898648" y="2286000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898648" y="2286000"/>
            <a:ext cx="2432304" cy="31089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90088" y="2340864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Collaboration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90088" y="2670048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Real-time co-authoring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13831" y="2322576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77255" y="2286000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77255" y="2286000"/>
            <a:ext cx="2432304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68695" y="2340864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Cloud Access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68695" y="2670048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Any device, anywhere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5" y="3529584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0040" y="3493008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0040" y="3493008"/>
            <a:ext cx="2432304" cy="31089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1479" y="3547872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Mail Merge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79" y="3877056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Bulk personalized documents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35224" y="3529584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98648" y="3493008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898648" y="3493008"/>
            <a:ext cx="2432304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90088" y="3547872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Professional Output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90088" y="3877056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Publication-quality design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13831" y="3529584"/>
            <a:ext cx="2432304" cy="1078992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477255" y="3493008"/>
            <a:ext cx="24323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477255" y="3493008"/>
            <a:ext cx="2432304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568695" y="3547872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Cost Saving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68695" y="3877056"/>
            <a:ext cx="22494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Reduces paper &amp; reprinting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83879" y="1078992"/>
            <a:ext cx="3675887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83879" y="1078992"/>
            <a:ext cx="3675887" cy="3108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39327" y="113385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Real-World Applications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20" y="1481328"/>
            <a:ext cx="3493008" cy="420624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94192" y="1499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Academic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91472" y="14996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Essays, theses, assignments, lab reports, study guides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75320" y="1984248"/>
            <a:ext cx="349300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94192" y="200253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Business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91472" y="20025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Letters, proposals, contracts, invoices, reports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75320" y="2487168"/>
            <a:ext cx="3493008" cy="420624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94192" y="250545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Legal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91472" y="25054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Briefs, contracts, affidavits, case documents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75320" y="2990088"/>
            <a:ext cx="349300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94192" y="30083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Medical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91472" y="30083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Patient records, prescriptions, clinical reports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75320" y="3493008"/>
            <a:ext cx="3493008" cy="420624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394192" y="351129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Education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91472" y="35112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Curriculum, lesson plans, exams, certificates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75320" y="3995928"/>
            <a:ext cx="349300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394192" y="401421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Technical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91472" y="4014215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Manuals, SOPs, user guides, API documentation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75320" y="4498848"/>
            <a:ext cx="3493008" cy="420624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394192" y="451713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Publishing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91472" y="45171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Books, e-books, newsletters, magazines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75320" y="5001768"/>
            <a:ext cx="349300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394192" y="502005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Government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91472" y="50200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Official letters, policies, public forms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75320" y="5504688"/>
            <a:ext cx="3493008" cy="420624"/>
          </a:xfrm>
          <a:prstGeom prst="rect">
            <a:avLst/>
          </a:prstGeom>
          <a:solidFill>
            <a:srgbClr val="F0F4F8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394192" y="55229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Personal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91472" y="55229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CVs, cover letters, personal statements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75320" y="6007608"/>
            <a:ext cx="349300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94192" y="602589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Research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91472" y="60258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Papers, abstracts, literature reviews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" y="4700016"/>
            <a:ext cx="1152144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320040" y="5980176"/>
            <a:ext cx="11521440" cy="49377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02920" y="6016752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  <a:latin typeface="Calibri"/>
              </a:rPr>
              <a:t>Word processors are an indispensable tool in modern digital communication — mastering them is a core skill for every student and professional.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34840" y="0"/>
            <a:ext cx="137160" cy="6858000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434840" cy="73152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4434840" cy="73152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1005840"/>
            <a:ext cx="40690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latin typeface="Calibri"/>
              </a:rP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3520440" cy="45720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2011680"/>
            <a:ext cx="40690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dirty="0">
                <a:latin typeface="Calibri"/>
              </a:rPr>
              <a:t>Word processors are an essential
tool for modern digital communication.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3520440" cy="45720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429000"/>
            <a:ext cx="1078992" cy="658368"/>
          </a:xfrm>
          <a:prstGeom prst="rect">
            <a:avLst/>
          </a:prstGeom>
          <a:solidFill>
            <a:srgbClr val="A1CB46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3502152"/>
            <a:ext cx="10789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15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1640" y="3630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Calibri"/>
              </a:rPr>
              <a:t>Topics Covered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306824"/>
            <a:ext cx="1078992" cy="658368"/>
          </a:xfrm>
          <a:prstGeom prst="rect">
            <a:avLst/>
          </a:prstGeom>
          <a:solidFill>
            <a:srgbClr val="A1CB46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379976"/>
            <a:ext cx="1078992" cy="492443"/>
          </a:xfrm>
          <a:prstGeom prst="rect">
            <a:avLst/>
          </a:prstGeom>
          <a:solidFill>
            <a:srgbClr val="A1CB46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600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</a:rPr>
              <a:t>15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40" y="45079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Calibri"/>
              </a:rPr>
              <a:t>Slides Presented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56032"/>
            <a:ext cx="7040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"/>
              </a:rPr>
              <a:t>Key Takeaways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713232"/>
            <a:ext cx="7223760" cy="36576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37176" y="877824"/>
            <a:ext cx="7178040" cy="768096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00600" y="841248"/>
            <a:ext cx="7178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00600" y="841248"/>
            <a:ext cx="566928" cy="768096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0" y="969264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Word processors revolutionized document creation with speed, accuracy and professional formatting.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37176" y="1755648"/>
            <a:ext cx="7178040" cy="768096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800600" y="1719072"/>
            <a:ext cx="7178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00600" y="1719072"/>
            <a:ext cx="566928" cy="768096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0" y="184708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Features like Track Changes and co-authoring enable seamless real-time team collaboration.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37176" y="2633472"/>
            <a:ext cx="7178040" cy="768096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00600" y="2596896"/>
            <a:ext cx="7178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800600" y="2596896"/>
            <a:ext cx="566928" cy="768096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0" y="272491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Mail Merge and Macros automate repetitive tasks — generating hundreds of personalized documents.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37176" y="3511296"/>
            <a:ext cx="7178040" cy="768096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77740" y="3429294"/>
            <a:ext cx="7178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00600" y="3429000"/>
            <a:ext cx="566928" cy="768096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5486400" y="3602736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Cloud integration via OneDrive ensures documents are always accessible from any device.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37176" y="4389120"/>
            <a:ext cx="7178040" cy="768096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800600" y="4352544"/>
            <a:ext cx="7178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00600" y="4352544"/>
            <a:ext cx="566928" cy="768096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0" y="4480559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From academic essays to legal briefs, word processors serve every profession effectively.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37176" y="5266944"/>
            <a:ext cx="7178040" cy="768096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800600" y="5230368"/>
            <a:ext cx="717804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800600" y="5230368"/>
            <a:ext cx="566928" cy="768096"/>
          </a:xfrm>
          <a:prstGeom prst="rect">
            <a:avLst/>
          </a:prstGeom>
          <a:solidFill>
            <a:srgbClr val="A1C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0" y="5358383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Mastering word processor tools is a fundamental digital literacy skill in today's workplace.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00600" y="6327648"/>
            <a:ext cx="717804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56048" y="6382512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Thank You for Your Attention!  ·  Questions Welcome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180</TotalTime>
  <Words>2609</Words>
  <Application>Microsoft Office PowerPoint</Application>
  <PresentationFormat>Custom</PresentationFormat>
  <Paragraphs>444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inherit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Shahrear Emon</cp:lastModifiedBy>
  <cp:revision>4</cp:revision>
  <dcterms:created xsi:type="dcterms:W3CDTF">2013-01-27T09:14:16Z</dcterms:created>
  <dcterms:modified xsi:type="dcterms:W3CDTF">2026-03-11T20:25:17Z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2026-03-10T17:53:10Z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1612a2f4-0822-498b-adfc-66e4fc38bbca</vt:lpwstr>
  </property>
  <property fmtid="{D5CDD505-2E9C-101B-9397-08002B2CF9AE}" pid="7" name="MSIP_Label_defa4170-0d19-0005-0004-bc88714345d2_ActionId">
    <vt:lpwstr>5e2890a6-af70-473a-93b1-e006795b3cf1</vt:lpwstr>
  </property>
  <property fmtid="{D5CDD505-2E9C-101B-9397-08002B2CF9AE}" pid="8" name="MSIP_Label_defa4170-0d19-0005-0004-bc88714345d2_ContentBits">
    <vt:lpwstr>0</vt:lpwstr>
  </property>
</Properties>
</file>